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309" r:id="rId2"/>
    <p:sldId id="310" r:id="rId3"/>
    <p:sldId id="301" r:id="rId4"/>
    <p:sldId id="304" r:id="rId5"/>
    <p:sldId id="279" r:id="rId6"/>
    <p:sldId id="306" r:id="rId7"/>
    <p:sldId id="307" r:id="rId8"/>
    <p:sldId id="256" r:id="rId9"/>
    <p:sldId id="257" r:id="rId10"/>
    <p:sldId id="258" r:id="rId11"/>
    <p:sldId id="260" r:id="rId12"/>
    <p:sldId id="261" r:id="rId13"/>
    <p:sldId id="264" r:id="rId14"/>
    <p:sldId id="263" r:id="rId15"/>
    <p:sldId id="265" r:id="rId16"/>
    <p:sldId id="266" r:id="rId17"/>
    <p:sldId id="276" r:id="rId18"/>
    <p:sldId id="277" r:id="rId19"/>
    <p:sldId id="285" r:id="rId20"/>
    <p:sldId id="308" r:id="rId21"/>
    <p:sldId id="267" r:id="rId22"/>
    <p:sldId id="270" r:id="rId23"/>
    <p:sldId id="271" r:id="rId24"/>
    <p:sldId id="273" r:id="rId25"/>
    <p:sldId id="272" r:id="rId26"/>
    <p:sldId id="281" r:id="rId27"/>
    <p:sldId id="286" r:id="rId28"/>
    <p:sldId id="289" r:id="rId29"/>
    <p:sldId id="290" r:id="rId30"/>
    <p:sldId id="292" r:id="rId31"/>
    <p:sldId id="312" r:id="rId32"/>
    <p:sldId id="313" r:id="rId33"/>
    <p:sldId id="294" r:id="rId34"/>
    <p:sldId id="291" r:id="rId35"/>
    <p:sldId id="293" r:id="rId36"/>
    <p:sldId id="274" r:id="rId37"/>
    <p:sldId id="287" r:id="rId38"/>
    <p:sldId id="288" r:id="rId39"/>
    <p:sldId id="298" r:id="rId40"/>
    <p:sldId id="302" r:id="rId41"/>
    <p:sldId id="300" r:id="rId42"/>
    <p:sldId id="299" r:id="rId43"/>
    <p:sldId id="311" r:id="rId44"/>
  </p:sldIdLst>
  <p:sldSz cx="1152207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972" y="-96"/>
      </p:cViewPr>
      <p:guideLst>
        <p:guide orient="horz" pos="2160"/>
        <p:guide pos="362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691860-D83F-4F8C-8A34-7031EB8C1106}" type="datetimeFigureOut">
              <a:rPr lang="en-IN" smtClean="0"/>
              <a:t>25-05-2025</a:t>
            </a:fld>
            <a:endParaRPr lang="en-IN"/>
          </a:p>
        </p:txBody>
      </p:sp>
      <p:sp>
        <p:nvSpPr>
          <p:cNvPr id="4" name="Slide Image Placeholder 3"/>
          <p:cNvSpPr>
            <a:spLocks noGrp="1" noRot="1" noChangeAspect="1"/>
          </p:cNvSpPr>
          <p:nvPr>
            <p:ph type="sldImg" idx="2"/>
          </p:nvPr>
        </p:nvSpPr>
        <p:spPr>
          <a:xfrm>
            <a:off x="549275" y="685800"/>
            <a:ext cx="575945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C79408D-D617-4C35-B319-BC02AFCCE018}" type="slidenum">
              <a:rPr lang="en-IN" smtClean="0"/>
              <a:t>‹#›</a:t>
            </a:fld>
            <a:endParaRPr lang="en-IN"/>
          </a:p>
        </p:txBody>
      </p:sp>
    </p:spTree>
    <p:extLst>
      <p:ext uri="{BB962C8B-B14F-4D97-AF65-F5344CB8AC3E}">
        <p14:creationId xmlns:p14="http://schemas.microsoft.com/office/powerpoint/2010/main" val="2431368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C79408D-D617-4C35-B319-BC02AFCCE018}" type="slidenum">
              <a:rPr lang="en-IN" smtClean="0"/>
              <a:t>1</a:t>
            </a:fld>
            <a:endParaRPr lang="en-IN"/>
          </a:p>
        </p:txBody>
      </p:sp>
    </p:spTree>
    <p:extLst>
      <p:ext uri="{BB962C8B-B14F-4D97-AF65-F5344CB8AC3E}">
        <p14:creationId xmlns:p14="http://schemas.microsoft.com/office/powerpoint/2010/main" val="1914107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4156" y="2130427"/>
            <a:ext cx="9793764"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728312" y="3886200"/>
            <a:ext cx="8065453"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0D3B312-558A-41B1-BE62-FD9F9970BBAE}" type="datetimeFigureOut">
              <a:rPr lang="en-IN" smtClean="0"/>
              <a:t>17-05-2025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F1F90E-833A-47DF-87BC-594E00AE4C7B}" type="slidenum">
              <a:rPr lang="en-IN" smtClean="0"/>
              <a:t>‹#›</a:t>
            </a:fld>
            <a:endParaRPr lang="en-IN"/>
          </a:p>
        </p:txBody>
      </p:sp>
    </p:spTree>
    <p:extLst>
      <p:ext uri="{BB962C8B-B14F-4D97-AF65-F5344CB8AC3E}">
        <p14:creationId xmlns:p14="http://schemas.microsoft.com/office/powerpoint/2010/main" val="1343705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0D3B312-558A-41B1-BE62-FD9F9970BBAE}" type="datetimeFigureOut">
              <a:rPr lang="en-IN" smtClean="0"/>
              <a:t>17-05-2025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F1F90E-833A-47DF-87BC-594E00AE4C7B}" type="slidenum">
              <a:rPr lang="en-IN" smtClean="0"/>
              <a:t>‹#›</a:t>
            </a:fld>
            <a:endParaRPr lang="en-IN"/>
          </a:p>
        </p:txBody>
      </p:sp>
    </p:spTree>
    <p:extLst>
      <p:ext uri="{BB962C8B-B14F-4D97-AF65-F5344CB8AC3E}">
        <p14:creationId xmlns:p14="http://schemas.microsoft.com/office/powerpoint/2010/main" val="1963309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0164" y="4406902"/>
            <a:ext cx="9793764"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910164" y="2906713"/>
            <a:ext cx="9793764"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0D3B312-558A-41B1-BE62-FD9F9970BBAE}" type="datetimeFigureOut">
              <a:rPr lang="en-IN" smtClean="0"/>
              <a:t>17-05-2025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F1F90E-833A-47DF-87BC-594E00AE4C7B}" type="slidenum">
              <a:rPr lang="en-IN" smtClean="0"/>
              <a:t>‹#›</a:t>
            </a:fld>
            <a:endParaRPr lang="en-IN"/>
          </a:p>
        </p:txBody>
      </p:sp>
    </p:spTree>
    <p:extLst>
      <p:ext uri="{BB962C8B-B14F-4D97-AF65-F5344CB8AC3E}">
        <p14:creationId xmlns:p14="http://schemas.microsoft.com/office/powerpoint/2010/main" val="2853764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576104" y="1600202"/>
            <a:ext cx="508891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5857055" y="1600202"/>
            <a:ext cx="508891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0D3B312-558A-41B1-BE62-FD9F9970BBAE}" type="datetimeFigureOut">
              <a:rPr lang="en-IN" smtClean="0"/>
              <a:t>17-05-2025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F1F90E-833A-47DF-87BC-594E00AE4C7B}" type="slidenum">
              <a:rPr lang="en-IN" smtClean="0"/>
              <a:t>‹#›</a:t>
            </a:fld>
            <a:endParaRPr lang="en-IN"/>
          </a:p>
        </p:txBody>
      </p:sp>
    </p:spTree>
    <p:extLst>
      <p:ext uri="{BB962C8B-B14F-4D97-AF65-F5344CB8AC3E}">
        <p14:creationId xmlns:p14="http://schemas.microsoft.com/office/powerpoint/2010/main" val="4028283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576104" y="1535113"/>
            <a:ext cx="5090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76104" y="2174875"/>
            <a:ext cx="5090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5853055" y="1535113"/>
            <a:ext cx="5092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53055" y="2174875"/>
            <a:ext cx="5092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0D3B312-558A-41B1-BE62-FD9F9970BBAE}" type="datetimeFigureOut">
              <a:rPr lang="en-IN" smtClean="0"/>
              <a:t>17-05-2025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9F1F90E-833A-47DF-87BC-594E00AE4C7B}" type="slidenum">
              <a:rPr lang="en-IN" smtClean="0"/>
              <a:t>‹#›</a:t>
            </a:fld>
            <a:endParaRPr lang="en-IN"/>
          </a:p>
        </p:txBody>
      </p:sp>
    </p:spTree>
    <p:extLst>
      <p:ext uri="{BB962C8B-B14F-4D97-AF65-F5344CB8AC3E}">
        <p14:creationId xmlns:p14="http://schemas.microsoft.com/office/powerpoint/2010/main" val="3605072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0D3B312-558A-41B1-BE62-FD9F9970BBAE}" type="datetimeFigureOut">
              <a:rPr lang="en-IN" smtClean="0"/>
              <a:t>17-05-2025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9F1F90E-833A-47DF-87BC-594E00AE4C7B}" type="slidenum">
              <a:rPr lang="en-IN" smtClean="0"/>
              <a:t>‹#›</a:t>
            </a:fld>
            <a:endParaRPr lang="en-IN"/>
          </a:p>
        </p:txBody>
      </p:sp>
    </p:spTree>
    <p:extLst>
      <p:ext uri="{BB962C8B-B14F-4D97-AF65-F5344CB8AC3E}">
        <p14:creationId xmlns:p14="http://schemas.microsoft.com/office/powerpoint/2010/main" val="1164171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D3B312-558A-41B1-BE62-FD9F9970BBAE}" type="datetimeFigureOut">
              <a:rPr lang="en-IN" smtClean="0"/>
              <a:t>17-05-2025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9F1F90E-833A-47DF-87BC-594E00AE4C7B}" type="slidenum">
              <a:rPr lang="en-IN" smtClean="0"/>
              <a:t>‹#›</a:t>
            </a:fld>
            <a:endParaRPr lang="en-IN"/>
          </a:p>
        </p:txBody>
      </p:sp>
    </p:spTree>
    <p:extLst>
      <p:ext uri="{BB962C8B-B14F-4D97-AF65-F5344CB8AC3E}">
        <p14:creationId xmlns:p14="http://schemas.microsoft.com/office/powerpoint/2010/main" val="1188368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6104" y="273050"/>
            <a:ext cx="3790684"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4504812" y="273052"/>
            <a:ext cx="644116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576104" y="1435102"/>
            <a:ext cx="37906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D3B312-558A-41B1-BE62-FD9F9970BBAE}" type="datetimeFigureOut">
              <a:rPr lang="en-IN" smtClean="0"/>
              <a:t>17-05-2025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F1F90E-833A-47DF-87BC-594E00AE4C7B}" type="slidenum">
              <a:rPr lang="en-IN" smtClean="0"/>
              <a:t>‹#›</a:t>
            </a:fld>
            <a:endParaRPr lang="en-IN"/>
          </a:p>
        </p:txBody>
      </p:sp>
    </p:spTree>
    <p:extLst>
      <p:ext uri="{BB962C8B-B14F-4D97-AF65-F5344CB8AC3E}">
        <p14:creationId xmlns:p14="http://schemas.microsoft.com/office/powerpoint/2010/main" val="1403757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58407" y="4800600"/>
            <a:ext cx="6913245"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2258407" y="612775"/>
            <a:ext cx="691324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258407" y="5367338"/>
            <a:ext cx="691324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D3B312-558A-41B1-BE62-FD9F9970BBAE}" type="datetimeFigureOut">
              <a:rPr lang="en-IN" smtClean="0"/>
              <a:t>17-05-2025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F1F90E-833A-47DF-87BC-594E00AE4C7B}" type="slidenum">
              <a:rPr lang="en-IN" smtClean="0"/>
              <a:t>‹#›</a:t>
            </a:fld>
            <a:endParaRPr lang="en-IN"/>
          </a:p>
        </p:txBody>
      </p:sp>
    </p:spTree>
    <p:extLst>
      <p:ext uri="{BB962C8B-B14F-4D97-AF65-F5344CB8AC3E}">
        <p14:creationId xmlns:p14="http://schemas.microsoft.com/office/powerpoint/2010/main" val="1902141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0D3B312-558A-41B1-BE62-FD9F9970BBAE}" type="datetimeFigureOut">
              <a:rPr lang="en-IN" smtClean="0"/>
              <a:t>17-05-2025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F1F90E-833A-47DF-87BC-594E00AE4C7B}" type="slidenum">
              <a:rPr lang="en-IN" smtClean="0"/>
              <a:t>‹#›</a:t>
            </a:fld>
            <a:endParaRPr lang="en-IN"/>
          </a:p>
        </p:txBody>
      </p:sp>
    </p:spTree>
    <p:extLst>
      <p:ext uri="{BB962C8B-B14F-4D97-AF65-F5344CB8AC3E}">
        <p14:creationId xmlns:p14="http://schemas.microsoft.com/office/powerpoint/2010/main" val="167293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53505" y="274640"/>
            <a:ext cx="2592467"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576104" y="274640"/>
            <a:ext cx="7585366"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0D3B312-558A-41B1-BE62-FD9F9970BBAE}" type="datetimeFigureOut">
              <a:rPr lang="en-IN" smtClean="0"/>
              <a:t>17-05-2025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F1F90E-833A-47DF-87BC-594E00AE4C7B}" type="slidenum">
              <a:rPr lang="en-IN" smtClean="0"/>
              <a:t>‹#›</a:t>
            </a:fld>
            <a:endParaRPr lang="en-IN"/>
          </a:p>
        </p:txBody>
      </p:sp>
    </p:spTree>
    <p:extLst>
      <p:ext uri="{BB962C8B-B14F-4D97-AF65-F5344CB8AC3E}">
        <p14:creationId xmlns:p14="http://schemas.microsoft.com/office/powerpoint/2010/main" val="1009877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105" y="274638"/>
            <a:ext cx="10369868"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576105" y="1600202"/>
            <a:ext cx="10369868"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576105" y="6356352"/>
            <a:ext cx="2688484"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D3B312-558A-41B1-BE62-FD9F9970BBAE}" type="datetimeFigureOut">
              <a:rPr lang="en-IN" smtClean="0"/>
              <a:t>17-05-2025</a:t>
            </a:fld>
            <a:endParaRPr lang="en-IN"/>
          </a:p>
        </p:txBody>
      </p:sp>
      <p:sp>
        <p:nvSpPr>
          <p:cNvPr id="5" name="Footer Placeholder 4"/>
          <p:cNvSpPr>
            <a:spLocks noGrp="1"/>
          </p:cNvSpPr>
          <p:nvPr>
            <p:ph type="ftr" sz="quarter" idx="3"/>
          </p:nvPr>
        </p:nvSpPr>
        <p:spPr>
          <a:xfrm>
            <a:off x="3936709" y="6356352"/>
            <a:ext cx="364865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257488" y="6356352"/>
            <a:ext cx="2688484"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F1F90E-833A-47DF-87BC-594E00AE4C7B}" type="slidenum">
              <a:rPr lang="en-IN" smtClean="0"/>
              <a:t>‹#›</a:t>
            </a:fld>
            <a:endParaRPr lang="en-IN"/>
          </a:p>
        </p:txBody>
      </p:sp>
    </p:spTree>
    <p:extLst>
      <p:ext uri="{BB962C8B-B14F-4D97-AF65-F5344CB8AC3E}">
        <p14:creationId xmlns:p14="http://schemas.microsoft.com/office/powerpoint/2010/main" val="394231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11" Type="http://schemas.openxmlformats.org/officeDocument/2006/relationships/image" Target="../media/image9.jpeg"/><Relationship Id="rId5" Type="http://schemas.openxmlformats.org/officeDocument/2006/relationships/image" Target="../media/image3.jpeg"/><Relationship Id="rId10" Type="http://schemas.openxmlformats.org/officeDocument/2006/relationships/image" Target="../media/image8.png"/><Relationship Id="rId4" Type="http://schemas.openxmlformats.org/officeDocument/2006/relationships/image" Target="../media/image2.jpe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British_Raj" TargetMode="External"/><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hyperlink" Target="https://en.wikipedia.org/wiki/Education_in_India"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068960"/>
            <a:ext cx="2327331"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77" name="Picture 5" descr="1000-Year-Old Templ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8684" y="3068961"/>
            <a:ext cx="6057639" cy="2664296"/>
          </a:xfrm>
          <a:prstGeom prst="rect">
            <a:avLst/>
          </a:prstGeom>
          <a:noFill/>
          <a:extLst>
            <a:ext uri="{909E8E84-426E-40DD-AFC4-6F175D3DCCD1}">
              <a14:hiddenFill xmlns:a14="http://schemas.microsoft.com/office/drawing/2010/main">
                <a:solidFill>
                  <a:srgbClr val="FFFFFF"/>
                </a:solidFill>
              </a14:hiddenFill>
            </a:ext>
          </a:extLst>
        </p:spPr>
      </p:pic>
      <p:pic>
        <p:nvPicPr>
          <p:cNvPr id="28679" name="Picture 7" descr="This ancient Hindu temple in India was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74290"/>
            <a:ext cx="2328685" cy="3143250"/>
          </a:xfrm>
          <a:prstGeom prst="rect">
            <a:avLst/>
          </a:prstGeom>
          <a:noFill/>
          <a:extLst>
            <a:ext uri="{909E8E84-426E-40DD-AFC4-6F175D3DCCD1}">
              <a14:hiddenFill xmlns:a14="http://schemas.microsoft.com/office/drawing/2010/main">
                <a:solidFill>
                  <a:srgbClr val="FFFFFF"/>
                </a:solidFill>
              </a14:hiddenFill>
            </a:ext>
          </a:extLst>
        </p:spPr>
      </p:pic>
      <p:pic>
        <p:nvPicPr>
          <p:cNvPr id="28681" name="Picture 9" descr="10 Facts About Ancient India"/>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7332" y="997840"/>
            <a:ext cx="4058972" cy="2092326"/>
          </a:xfrm>
          <a:prstGeom prst="rect">
            <a:avLst/>
          </a:prstGeom>
          <a:noFill/>
          <a:extLst>
            <a:ext uri="{909E8E84-426E-40DD-AFC4-6F175D3DCCD1}">
              <a14:hiddenFill xmlns:a14="http://schemas.microsoft.com/office/drawing/2010/main">
                <a:solidFill>
                  <a:srgbClr val="FFFFFF"/>
                </a:solidFill>
              </a14:hiddenFill>
            </a:ext>
          </a:extLst>
        </p:spPr>
      </p:pic>
      <p:pic>
        <p:nvPicPr>
          <p:cNvPr id="28685" name="Picture 13" descr="10 Ancient Hindu Temples You Must Visi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6323" y="3058457"/>
            <a:ext cx="3135752" cy="3799543"/>
          </a:xfrm>
          <a:prstGeom prst="rect">
            <a:avLst/>
          </a:prstGeom>
          <a:noFill/>
          <a:extLst>
            <a:ext uri="{909E8E84-426E-40DD-AFC4-6F175D3DCCD1}">
              <a14:hiddenFill xmlns:a14="http://schemas.microsoft.com/office/drawing/2010/main">
                <a:solidFill>
                  <a:srgbClr val="FFFFFF"/>
                </a:solidFill>
              </a14:hiddenFill>
            </a:ext>
          </a:extLst>
        </p:spPr>
      </p:pic>
      <p:pic>
        <p:nvPicPr>
          <p:cNvPr id="28687" name="Picture 15" descr="Fun Facts About Ancient India - WorldAtlas"/>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86302" y="976634"/>
            <a:ext cx="5135773" cy="2092326"/>
          </a:xfrm>
          <a:prstGeom prst="rect">
            <a:avLst/>
          </a:prstGeom>
          <a:noFill/>
          <a:extLst>
            <a:ext uri="{909E8E84-426E-40DD-AFC4-6F175D3DCCD1}">
              <a14:hiddenFill xmlns:a14="http://schemas.microsoft.com/office/drawing/2010/main">
                <a:solidFill>
                  <a:srgbClr val="FFFFFF"/>
                </a:solidFill>
              </a14:hiddenFill>
            </a:ext>
          </a:extLst>
        </p:spPr>
      </p:pic>
      <p:pic>
        <p:nvPicPr>
          <p:cNvPr id="28688" name="Picture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4293096"/>
            <a:ext cx="2328684" cy="2564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89" name="Picture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28684" y="5733256"/>
            <a:ext cx="6057639" cy="1124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91" name="Picture 19" descr="Ancient Indian Temples ..."/>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27332" y="6458"/>
            <a:ext cx="5089890" cy="991382"/>
          </a:xfrm>
          <a:prstGeom prst="rect">
            <a:avLst/>
          </a:prstGeom>
          <a:noFill/>
          <a:extLst>
            <a:ext uri="{909E8E84-426E-40DD-AFC4-6F175D3DCCD1}">
              <a14:hiddenFill xmlns:a14="http://schemas.microsoft.com/office/drawing/2010/main">
                <a:solidFill>
                  <a:srgbClr val="FFFFFF"/>
                </a:solidFill>
              </a14:hiddenFill>
            </a:ext>
          </a:extLst>
        </p:spPr>
      </p:pic>
      <p:pic>
        <p:nvPicPr>
          <p:cNvPr id="28692" name="Picture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17221" y="8133"/>
            <a:ext cx="4104854" cy="989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3655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3844206" y="1580544"/>
            <a:ext cx="3225994" cy="326645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p:cNvSpPr/>
          <p:nvPr/>
        </p:nvSpPr>
        <p:spPr>
          <a:xfrm>
            <a:off x="7641865" y="764704"/>
            <a:ext cx="1711188" cy="1419185"/>
          </a:xfrm>
          <a:prstGeom prst="ellipse">
            <a:avLst/>
          </a:prstGeom>
          <a:solidFill>
            <a:schemeClr val="accent6">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smtClean="0">
                <a:solidFill>
                  <a:schemeClr val="tx1"/>
                </a:solidFill>
              </a:rPr>
              <a:t>प्रश्न विचारण्याची मुभा</a:t>
            </a:r>
            <a:endParaRPr lang="hi-IN" dirty="0" smtClean="0">
              <a:solidFill>
                <a:schemeClr val="tx1"/>
              </a:solidFill>
            </a:endParaRPr>
          </a:p>
        </p:txBody>
      </p:sp>
      <p:sp>
        <p:nvSpPr>
          <p:cNvPr id="7" name="Oval 6"/>
          <p:cNvSpPr/>
          <p:nvPr/>
        </p:nvSpPr>
        <p:spPr>
          <a:xfrm>
            <a:off x="7641865" y="2957181"/>
            <a:ext cx="2979712" cy="915131"/>
          </a:xfrm>
          <a:prstGeom prst="ellipse">
            <a:avLst/>
          </a:prstGeom>
          <a:solidFill>
            <a:schemeClr val="accent6">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smtClean="0">
                <a:solidFill>
                  <a:schemeClr val="tx1"/>
                </a:solidFill>
              </a:rPr>
              <a:t>उत्तर मानण्याचा आग्रह नाही</a:t>
            </a:r>
            <a:endParaRPr lang="hi-IN" dirty="0" smtClean="0">
              <a:solidFill>
                <a:schemeClr val="tx1"/>
              </a:solidFill>
            </a:endParaRPr>
          </a:p>
        </p:txBody>
      </p:sp>
      <p:sp>
        <p:nvSpPr>
          <p:cNvPr id="8" name="Oval 7"/>
          <p:cNvSpPr/>
          <p:nvPr/>
        </p:nvSpPr>
        <p:spPr>
          <a:xfrm>
            <a:off x="7799573" y="4680830"/>
            <a:ext cx="1553480" cy="1340458"/>
          </a:xfrm>
          <a:prstGeom prst="ellipse">
            <a:avLst/>
          </a:prstGeom>
          <a:solidFill>
            <a:schemeClr val="accent6">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smtClean="0">
                <a:solidFill>
                  <a:schemeClr val="tx1"/>
                </a:solidFill>
              </a:rPr>
              <a:t>यथा इच्छसी तथा कुरु</a:t>
            </a:r>
            <a:endParaRPr lang="hi-IN" dirty="0" smtClean="0">
              <a:solidFill>
                <a:schemeClr val="tx1"/>
              </a:solidFill>
            </a:endParaRPr>
          </a:p>
        </p:txBody>
      </p:sp>
      <p:sp>
        <p:nvSpPr>
          <p:cNvPr id="9" name="Oval 8"/>
          <p:cNvSpPr/>
          <p:nvPr/>
        </p:nvSpPr>
        <p:spPr>
          <a:xfrm>
            <a:off x="532766" y="2998578"/>
            <a:ext cx="2979712" cy="915131"/>
          </a:xfrm>
          <a:prstGeom prst="ellipse">
            <a:avLst/>
          </a:prstGeom>
          <a:solidFill>
            <a:schemeClr val="accent6">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smtClean="0">
                <a:solidFill>
                  <a:schemeClr val="tx1"/>
                </a:solidFill>
              </a:rPr>
              <a:t>आस्तिक असू शकता किंवा नास्तिक </a:t>
            </a:r>
            <a:endParaRPr lang="hi-IN" dirty="0" smtClean="0">
              <a:solidFill>
                <a:schemeClr val="tx1"/>
              </a:solidFill>
            </a:endParaRPr>
          </a:p>
        </p:txBody>
      </p:sp>
      <p:sp>
        <p:nvSpPr>
          <p:cNvPr id="10" name="Oval 9"/>
          <p:cNvSpPr/>
          <p:nvPr/>
        </p:nvSpPr>
        <p:spPr>
          <a:xfrm>
            <a:off x="1872605" y="908720"/>
            <a:ext cx="1800200" cy="1343649"/>
          </a:xfrm>
          <a:prstGeom prst="ellipse">
            <a:avLst/>
          </a:prstGeom>
          <a:solidFill>
            <a:schemeClr val="accent6">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smtClean="0">
                <a:solidFill>
                  <a:schemeClr val="tx1"/>
                </a:solidFill>
              </a:rPr>
              <a:t>प्रत्येकाचा देव वेगळा असू शकतो. </a:t>
            </a:r>
          </a:p>
        </p:txBody>
      </p:sp>
      <p:sp>
        <p:nvSpPr>
          <p:cNvPr id="11" name="Oval 10"/>
          <p:cNvSpPr/>
          <p:nvPr/>
        </p:nvSpPr>
        <p:spPr>
          <a:xfrm>
            <a:off x="4608735" y="188640"/>
            <a:ext cx="1728366" cy="915131"/>
          </a:xfrm>
          <a:prstGeom prst="ellipse">
            <a:avLst/>
          </a:prstGeom>
          <a:solidFill>
            <a:schemeClr val="accent6">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smtClean="0">
                <a:solidFill>
                  <a:schemeClr val="tx1"/>
                </a:solidFill>
              </a:rPr>
              <a:t>धर्म हा वैयक्तिक बाब आहे.</a:t>
            </a:r>
            <a:endParaRPr lang="hi-IN" dirty="0" smtClean="0">
              <a:solidFill>
                <a:schemeClr val="tx1"/>
              </a:solidFill>
            </a:endParaRPr>
          </a:p>
        </p:txBody>
      </p:sp>
      <p:sp>
        <p:nvSpPr>
          <p:cNvPr id="12" name="Oval 11"/>
          <p:cNvSpPr/>
          <p:nvPr/>
        </p:nvSpPr>
        <p:spPr>
          <a:xfrm>
            <a:off x="4737653" y="5445224"/>
            <a:ext cx="1656184" cy="1296144"/>
          </a:xfrm>
          <a:prstGeom prst="ellipse">
            <a:avLst/>
          </a:prstGeom>
          <a:solidFill>
            <a:schemeClr val="accent6">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smtClean="0">
                <a:solidFill>
                  <a:schemeClr val="tx1"/>
                </a:solidFill>
              </a:rPr>
              <a:t>विश्वबंधुता</a:t>
            </a:r>
            <a:endParaRPr lang="hi-IN" dirty="0" smtClean="0">
              <a:solidFill>
                <a:schemeClr val="tx1"/>
              </a:solidFill>
            </a:endParaRPr>
          </a:p>
        </p:txBody>
      </p:sp>
      <p:sp>
        <p:nvSpPr>
          <p:cNvPr id="13" name="Oval 12"/>
          <p:cNvSpPr/>
          <p:nvPr/>
        </p:nvSpPr>
        <p:spPr>
          <a:xfrm>
            <a:off x="1864221" y="4847003"/>
            <a:ext cx="1728192" cy="1296144"/>
          </a:xfrm>
          <a:prstGeom prst="ellipse">
            <a:avLst/>
          </a:prstGeom>
          <a:solidFill>
            <a:schemeClr val="accent6">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smtClean="0">
                <a:solidFill>
                  <a:schemeClr val="tx1"/>
                </a:solidFill>
              </a:rPr>
              <a:t>कर्म सिद्धांताला मानतो </a:t>
            </a:r>
            <a:endParaRPr lang="en-IN" dirty="0">
              <a:solidFill>
                <a:schemeClr val="tx1"/>
              </a:solidFill>
            </a:endParaRPr>
          </a:p>
        </p:txBody>
      </p:sp>
      <p:pic>
        <p:nvPicPr>
          <p:cNvPr id="3277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1409" y="2060848"/>
            <a:ext cx="2059708" cy="2122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9333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7" grpId="0" animBg="1"/>
      <p:bldP spid="8" grpId="0" animBg="1"/>
      <p:bldP spid="9" grpId="0" animBg="1"/>
      <p:bldP spid="10" grpId="0" animBg="1"/>
      <p:bldP spid="11" grpId="0" animBg="1"/>
      <p:bldP spid="12"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0637" y="548680"/>
            <a:ext cx="5726483" cy="5749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0637" y="526257"/>
            <a:ext cx="8026123" cy="576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12" descr="The Singularity of the Bhagavad Gita"/>
          <p:cNvSpPr>
            <a:spLocks noChangeAspect="1" noChangeArrowheads="1"/>
          </p:cNvSpPr>
          <p:nvPr/>
        </p:nvSpPr>
        <p:spPr bwMode="auto">
          <a:xfrm>
            <a:off x="155575" y="-13652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643824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379" y="1317467"/>
            <a:ext cx="5305868" cy="3808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TextBox 25"/>
          <p:cNvSpPr txBox="1"/>
          <p:nvPr/>
        </p:nvSpPr>
        <p:spPr>
          <a:xfrm>
            <a:off x="5761037" y="112039"/>
            <a:ext cx="4392488" cy="369332"/>
          </a:xfrm>
          <a:prstGeom prst="rect">
            <a:avLst/>
          </a:prstGeom>
          <a:noFill/>
        </p:spPr>
        <p:txBody>
          <a:bodyPr wrap="square" rtlCol="0">
            <a:spAutoFit/>
          </a:bodyPr>
          <a:lstStyle/>
          <a:p>
            <a:pPr marL="285750" indent="-285750">
              <a:buFont typeface="Arial" panose="020B0604020202020204" pitchFamily="34" charset="0"/>
              <a:buChar char="•"/>
            </a:pPr>
            <a:r>
              <a:rPr lang="hi-IN" dirty="0" smtClean="0"/>
              <a:t>आर्य भारत बाहेरून आले  (इराण , जर्मन)</a:t>
            </a:r>
            <a:endParaRPr lang="en-IN" dirty="0"/>
          </a:p>
        </p:txBody>
      </p:sp>
      <p:sp>
        <p:nvSpPr>
          <p:cNvPr id="27" name="Rectangle 26"/>
          <p:cNvSpPr/>
          <p:nvPr/>
        </p:nvSpPr>
        <p:spPr>
          <a:xfrm>
            <a:off x="5761037" y="539388"/>
            <a:ext cx="5174815" cy="369332"/>
          </a:xfrm>
          <a:prstGeom prst="rect">
            <a:avLst/>
          </a:prstGeom>
        </p:spPr>
        <p:txBody>
          <a:bodyPr wrap="none">
            <a:spAutoFit/>
          </a:bodyPr>
          <a:lstStyle/>
          <a:p>
            <a:pPr marL="285750" indent="-285750">
              <a:buFont typeface="Arial" panose="020B0604020202020204" pitchFamily="34" charset="0"/>
              <a:buChar char="•"/>
            </a:pPr>
            <a:r>
              <a:rPr lang="hi-IN" dirty="0" smtClean="0"/>
              <a:t>रामायण महाभारत हा इतिहास नसून कथा आहेत </a:t>
            </a:r>
            <a:endParaRPr lang="en-IN" dirty="0"/>
          </a:p>
        </p:txBody>
      </p:sp>
      <p:sp>
        <p:nvSpPr>
          <p:cNvPr id="28" name="Rectangle 27"/>
          <p:cNvSpPr/>
          <p:nvPr/>
        </p:nvSpPr>
        <p:spPr>
          <a:xfrm>
            <a:off x="5762625" y="908720"/>
            <a:ext cx="5759450" cy="923330"/>
          </a:xfrm>
          <a:prstGeom prst="rect">
            <a:avLst/>
          </a:prstGeom>
        </p:spPr>
        <p:txBody>
          <a:bodyPr>
            <a:spAutoFit/>
          </a:bodyPr>
          <a:lstStyle/>
          <a:p>
            <a:pPr marL="285750" indent="-285750">
              <a:buFont typeface="Arial" panose="020B0604020202020204" pitchFamily="34" charset="0"/>
              <a:buChar char="•"/>
            </a:pPr>
            <a:r>
              <a:rPr lang="hi-IN" dirty="0" smtClean="0"/>
              <a:t>भारताला इतिहास नाही आणि हा देश गायी, शेण जाती पती, सती प्रथांचा, </a:t>
            </a:r>
            <a:r>
              <a:rPr lang="en-US" dirty="0" err="1" smtClean="0"/>
              <a:t>jadibuti</a:t>
            </a:r>
            <a:r>
              <a:rPr lang="en-US" dirty="0" smtClean="0"/>
              <a:t> </a:t>
            </a:r>
            <a:r>
              <a:rPr lang="hi-IN" dirty="0" smtClean="0"/>
              <a:t>अशिक्षित लोकांचा</a:t>
            </a:r>
            <a:r>
              <a:rPr lang="en-US" dirty="0" smtClean="0"/>
              <a:t> </a:t>
            </a:r>
            <a:r>
              <a:rPr lang="hi-IN" b="1" dirty="0" smtClean="0"/>
              <a:t>गरीब</a:t>
            </a:r>
            <a:r>
              <a:rPr lang="hi-IN" dirty="0" smtClean="0"/>
              <a:t> देश आहे</a:t>
            </a:r>
            <a:endParaRPr lang="en-IN" dirty="0"/>
          </a:p>
        </p:txBody>
      </p:sp>
      <p:sp>
        <p:nvSpPr>
          <p:cNvPr id="29" name="Rectangle 28"/>
          <p:cNvSpPr/>
          <p:nvPr/>
        </p:nvSpPr>
        <p:spPr>
          <a:xfrm>
            <a:off x="5762625" y="1844824"/>
            <a:ext cx="5759450" cy="646331"/>
          </a:xfrm>
          <a:prstGeom prst="rect">
            <a:avLst/>
          </a:prstGeom>
        </p:spPr>
        <p:txBody>
          <a:bodyPr>
            <a:spAutoFit/>
          </a:bodyPr>
          <a:lstStyle/>
          <a:p>
            <a:pPr marL="285750" indent="-285750">
              <a:buFont typeface="Arial" panose="020B0604020202020204" pitchFamily="34" charset="0"/>
              <a:buChar char="•"/>
            </a:pPr>
            <a:r>
              <a:rPr lang="hi-IN" dirty="0" smtClean="0"/>
              <a:t>गणित, विज्ञान, कला या शास्त्रांचा विकास पाश्चिमात्य राष्ट्रात झाला</a:t>
            </a:r>
            <a:endParaRPr lang="en-IN" dirty="0"/>
          </a:p>
        </p:txBody>
      </p:sp>
      <p:sp>
        <p:nvSpPr>
          <p:cNvPr id="30" name="Rectangle 29"/>
          <p:cNvSpPr/>
          <p:nvPr/>
        </p:nvSpPr>
        <p:spPr>
          <a:xfrm>
            <a:off x="5762625" y="3164775"/>
            <a:ext cx="5759450" cy="1200329"/>
          </a:xfrm>
          <a:prstGeom prst="rect">
            <a:avLst/>
          </a:prstGeom>
        </p:spPr>
        <p:txBody>
          <a:bodyPr>
            <a:spAutoFit/>
          </a:bodyPr>
          <a:lstStyle/>
          <a:p>
            <a:pPr marL="285750" indent="-285750">
              <a:buFont typeface="Arial" panose="020B0604020202020204" pitchFamily="34" charset="0"/>
              <a:buChar char="•"/>
            </a:pPr>
            <a:r>
              <a:rPr lang="hi-IN" b="1" dirty="0" smtClean="0"/>
              <a:t>उच्चवर्णयांनी  निम्नवर्णीयांना अत्याचार केले आणि त्यांना शिक्षणापासून वंचित ठेवलं</a:t>
            </a:r>
            <a:r>
              <a:rPr lang="en-US" dirty="0" smtClean="0"/>
              <a:t>.. </a:t>
            </a:r>
            <a:r>
              <a:rPr lang="hi-IN" dirty="0" smtClean="0"/>
              <a:t>शिक्षण म्हणे काय तर ज्याला इंग्लिश आणि त्यांनी दिलेलं शिक्षण ज्याने घेतलं आहे तो . </a:t>
            </a:r>
            <a:endParaRPr lang="en-IN" dirty="0"/>
          </a:p>
        </p:txBody>
      </p:sp>
      <p:sp>
        <p:nvSpPr>
          <p:cNvPr id="31" name="Rectangle 30"/>
          <p:cNvSpPr/>
          <p:nvPr/>
        </p:nvSpPr>
        <p:spPr>
          <a:xfrm>
            <a:off x="5762623" y="4499828"/>
            <a:ext cx="5630067" cy="369332"/>
          </a:xfrm>
          <a:prstGeom prst="rect">
            <a:avLst/>
          </a:prstGeom>
        </p:spPr>
        <p:txBody>
          <a:bodyPr wrap="none">
            <a:spAutoFit/>
          </a:bodyPr>
          <a:lstStyle/>
          <a:p>
            <a:pPr marL="285750" indent="-285750">
              <a:buFont typeface="Arial" panose="020B0604020202020204" pitchFamily="34" charset="0"/>
              <a:buChar char="•"/>
            </a:pPr>
            <a:r>
              <a:rPr lang="hi-IN" dirty="0" smtClean="0"/>
              <a:t>गुरुकुल पद्धत बंद केली.. गुरुकुल समाज  चालवायचा </a:t>
            </a:r>
            <a:endParaRPr lang="en-IN" dirty="0"/>
          </a:p>
        </p:txBody>
      </p:sp>
      <p:sp>
        <p:nvSpPr>
          <p:cNvPr id="32" name="Rectangle 31"/>
          <p:cNvSpPr/>
          <p:nvPr/>
        </p:nvSpPr>
        <p:spPr>
          <a:xfrm>
            <a:off x="5762624" y="5025950"/>
            <a:ext cx="5759450" cy="923330"/>
          </a:xfrm>
          <a:prstGeom prst="rect">
            <a:avLst/>
          </a:prstGeom>
        </p:spPr>
        <p:txBody>
          <a:bodyPr>
            <a:spAutoFit/>
          </a:bodyPr>
          <a:lstStyle/>
          <a:p>
            <a:pPr marL="285750" indent="-285750">
              <a:buFont typeface="Arial" panose="020B0604020202020204" pitchFamily="34" charset="0"/>
              <a:buChar char="•"/>
            </a:pPr>
            <a:r>
              <a:rPr lang="hi-IN" dirty="0" smtClean="0"/>
              <a:t>विवाह संस्थेवरच प्रश्न निर्माण केलेत. मुलाचं आणि मुलीचा लग्न  का व्हायला पाहिजे. समाज लिंग ठरवू शकत नाही. ती वैक्तिक बाब आहे. </a:t>
            </a:r>
            <a:endParaRPr lang="en-IN" dirty="0"/>
          </a:p>
        </p:txBody>
      </p:sp>
      <p:sp>
        <p:nvSpPr>
          <p:cNvPr id="33" name="Rectangle 32"/>
          <p:cNvSpPr/>
          <p:nvPr/>
        </p:nvSpPr>
        <p:spPr>
          <a:xfrm>
            <a:off x="5741435" y="6021287"/>
            <a:ext cx="5627536" cy="646331"/>
          </a:xfrm>
          <a:prstGeom prst="rect">
            <a:avLst/>
          </a:prstGeom>
        </p:spPr>
        <p:txBody>
          <a:bodyPr wrap="square">
            <a:spAutoFit/>
          </a:bodyPr>
          <a:lstStyle/>
          <a:p>
            <a:pPr marL="285750" indent="-285750">
              <a:buFont typeface="Arial" panose="020B0604020202020204" pitchFamily="34" charset="0"/>
              <a:buChar char="•"/>
            </a:pPr>
            <a:r>
              <a:rPr lang="hi-IN" b="1" dirty="0" smtClean="0">
                <a:solidFill>
                  <a:srgbClr val="FF0000"/>
                </a:solidFill>
              </a:rPr>
              <a:t>प्रत्येक गोष्टीकडे एक उपभोग्य वस्तू म्ह्णून पाहायचं.. उपभोग घेतला, काम झालं, सोडून दिल.</a:t>
            </a:r>
            <a:endParaRPr lang="en-IN" b="1" dirty="0">
              <a:solidFill>
                <a:srgbClr val="FF0000"/>
              </a:solidFill>
            </a:endParaRPr>
          </a:p>
        </p:txBody>
      </p:sp>
      <p:sp>
        <p:nvSpPr>
          <p:cNvPr id="2" name="Rectangle 1"/>
          <p:cNvSpPr/>
          <p:nvPr/>
        </p:nvSpPr>
        <p:spPr>
          <a:xfrm>
            <a:off x="5762227" y="2494637"/>
            <a:ext cx="5759450" cy="646331"/>
          </a:xfrm>
          <a:prstGeom prst="rect">
            <a:avLst/>
          </a:prstGeom>
        </p:spPr>
        <p:txBody>
          <a:bodyPr>
            <a:spAutoFit/>
          </a:bodyPr>
          <a:lstStyle/>
          <a:p>
            <a:pPr marL="285750" indent="-285750">
              <a:buFont typeface="Arial" panose="020B0604020202020204" pitchFamily="34" charset="0"/>
              <a:buChar char="•"/>
            </a:pPr>
            <a:r>
              <a:rPr lang="hi-IN" dirty="0" smtClean="0"/>
              <a:t>वैद्यकशास्त्र आणि शल्य चिकित्सा पाश्चिमात्यांचे  देणं आहे. भारत जडीबुटी वाल्यांचा देश..</a:t>
            </a:r>
            <a:endParaRPr lang="en-IN" dirty="0"/>
          </a:p>
        </p:txBody>
      </p:sp>
    </p:spTree>
    <p:extLst>
      <p:ext uri="{BB962C8B-B14F-4D97-AF65-F5344CB8AC3E}">
        <p14:creationId xmlns:p14="http://schemas.microsoft.com/office/powerpoint/2010/main" val="37122489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0018" y="24773"/>
            <a:ext cx="4248472" cy="6814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84" y="4367680"/>
            <a:ext cx="7146634" cy="2471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Oval 15"/>
          <p:cNvSpPr/>
          <p:nvPr/>
        </p:nvSpPr>
        <p:spPr>
          <a:xfrm rot="2358988">
            <a:off x="298703" y="1196161"/>
            <a:ext cx="914400" cy="6364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i-IN" dirty="0" smtClean="0"/>
              <a:t>प्रेम</a:t>
            </a:r>
            <a:endParaRPr lang="en-IN" dirty="0"/>
          </a:p>
        </p:txBody>
      </p:sp>
      <p:sp>
        <p:nvSpPr>
          <p:cNvPr id="13" name="Rectangle 12"/>
          <p:cNvSpPr/>
          <p:nvPr/>
        </p:nvSpPr>
        <p:spPr>
          <a:xfrm>
            <a:off x="980225" y="1145067"/>
            <a:ext cx="5759450" cy="369332"/>
          </a:xfrm>
          <a:prstGeom prst="rect">
            <a:avLst/>
          </a:prstGeom>
        </p:spPr>
        <p:txBody>
          <a:bodyPr>
            <a:spAutoFit/>
          </a:bodyPr>
          <a:lstStyle/>
          <a:p>
            <a:r>
              <a:rPr lang="hi-IN" dirty="0" smtClean="0"/>
              <a:t> </a:t>
            </a:r>
            <a:endParaRPr lang="en-IN" dirty="0"/>
          </a:p>
        </p:txBody>
      </p:sp>
      <p:sp>
        <p:nvSpPr>
          <p:cNvPr id="20" name="Oval 19"/>
          <p:cNvSpPr/>
          <p:nvPr/>
        </p:nvSpPr>
        <p:spPr>
          <a:xfrm rot="2903368">
            <a:off x="1492832" y="3413228"/>
            <a:ext cx="1308940" cy="6107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i-IN" dirty="0" smtClean="0"/>
              <a:t>तळमळ</a:t>
            </a:r>
            <a:endParaRPr lang="en-IN" dirty="0"/>
          </a:p>
        </p:txBody>
      </p:sp>
      <p:sp>
        <p:nvSpPr>
          <p:cNvPr id="21" name="Oval 20"/>
          <p:cNvSpPr/>
          <p:nvPr/>
        </p:nvSpPr>
        <p:spPr>
          <a:xfrm rot="19101823">
            <a:off x="5036989" y="2397161"/>
            <a:ext cx="1368152" cy="6449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i-IN" dirty="0" smtClean="0"/>
              <a:t>आपुलकी</a:t>
            </a:r>
            <a:endParaRPr lang="en-IN" dirty="0"/>
          </a:p>
        </p:txBody>
      </p:sp>
      <p:sp>
        <p:nvSpPr>
          <p:cNvPr id="22" name="Oval 21"/>
          <p:cNvSpPr/>
          <p:nvPr/>
        </p:nvSpPr>
        <p:spPr>
          <a:xfrm rot="18258717">
            <a:off x="3969980" y="3794891"/>
            <a:ext cx="1746770" cy="556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i-IN" dirty="0" smtClean="0"/>
              <a:t>आत्मीयता</a:t>
            </a:r>
            <a:endParaRPr lang="en-IN" dirty="0"/>
          </a:p>
        </p:txBody>
      </p:sp>
      <p:sp>
        <p:nvSpPr>
          <p:cNvPr id="24" name="Oval 23"/>
          <p:cNvSpPr/>
          <p:nvPr/>
        </p:nvSpPr>
        <p:spPr>
          <a:xfrm rot="2676996">
            <a:off x="1389043" y="1557284"/>
            <a:ext cx="1002394" cy="5583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i-IN" dirty="0" smtClean="0"/>
              <a:t>मान</a:t>
            </a:r>
            <a:endParaRPr lang="en-IN" dirty="0"/>
          </a:p>
        </p:txBody>
      </p:sp>
      <p:sp>
        <p:nvSpPr>
          <p:cNvPr id="25" name="Oval 24"/>
          <p:cNvSpPr/>
          <p:nvPr/>
        </p:nvSpPr>
        <p:spPr>
          <a:xfrm rot="2198740">
            <a:off x="2629401" y="1320215"/>
            <a:ext cx="1248991" cy="645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i-IN" dirty="0" smtClean="0"/>
              <a:t>सन्मान</a:t>
            </a:r>
            <a:endParaRPr lang="en-IN" dirty="0"/>
          </a:p>
        </p:txBody>
      </p:sp>
      <p:sp>
        <p:nvSpPr>
          <p:cNvPr id="26" name="Oval 25"/>
          <p:cNvSpPr/>
          <p:nvPr/>
        </p:nvSpPr>
        <p:spPr>
          <a:xfrm rot="3719788">
            <a:off x="2130403" y="2847077"/>
            <a:ext cx="1511871" cy="6449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i-IN" dirty="0" smtClean="0"/>
              <a:t>नातीगोती</a:t>
            </a:r>
            <a:endParaRPr lang="en-IN" dirty="0"/>
          </a:p>
        </p:txBody>
      </p:sp>
      <p:sp>
        <p:nvSpPr>
          <p:cNvPr id="27" name="Oval 26"/>
          <p:cNvSpPr/>
          <p:nvPr/>
        </p:nvSpPr>
        <p:spPr>
          <a:xfrm rot="1740692">
            <a:off x="647668" y="2355571"/>
            <a:ext cx="1223839" cy="5475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i-IN" dirty="0" smtClean="0"/>
              <a:t>काळजी</a:t>
            </a:r>
            <a:endParaRPr lang="en-IN" dirty="0"/>
          </a:p>
        </p:txBody>
      </p:sp>
      <p:sp>
        <p:nvSpPr>
          <p:cNvPr id="29" name="Oval 28"/>
          <p:cNvSpPr/>
          <p:nvPr/>
        </p:nvSpPr>
        <p:spPr>
          <a:xfrm rot="17712475">
            <a:off x="5019069" y="1357350"/>
            <a:ext cx="1152129" cy="725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i-IN" dirty="0" smtClean="0"/>
              <a:t>करुणा</a:t>
            </a:r>
            <a:endParaRPr lang="en-IN" dirty="0"/>
          </a:p>
        </p:txBody>
      </p:sp>
      <p:sp>
        <p:nvSpPr>
          <p:cNvPr id="30" name="Oval 29"/>
          <p:cNvSpPr/>
          <p:nvPr/>
        </p:nvSpPr>
        <p:spPr>
          <a:xfrm rot="18607784">
            <a:off x="3237486" y="3765841"/>
            <a:ext cx="1165277" cy="5330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i-IN" dirty="0" smtClean="0"/>
              <a:t>त्याग</a:t>
            </a:r>
            <a:endParaRPr lang="en-IN" dirty="0"/>
          </a:p>
        </p:txBody>
      </p:sp>
      <p:sp>
        <p:nvSpPr>
          <p:cNvPr id="31" name="Oval 30"/>
          <p:cNvSpPr/>
          <p:nvPr/>
        </p:nvSpPr>
        <p:spPr>
          <a:xfrm rot="19517757">
            <a:off x="3785792" y="2387935"/>
            <a:ext cx="1152734" cy="6776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i-IN" dirty="0" smtClean="0"/>
              <a:t>मर्यादा</a:t>
            </a:r>
            <a:endParaRPr lang="en-IN" dirty="0"/>
          </a:p>
        </p:txBody>
      </p:sp>
      <p:sp>
        <p:nvSpPr>
          <p:cNvPr id="32" name="Oval 31"/>
          <p:cNvSpPr/>
          <p:nvPr/>
        </p:nvSpPr>
        <p:spPr>
          <a:xfrm rot="2206622">
            <a:off x="368306" y="3564319"/>
            <a:ext cx="1223839" cy="5330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i-IN" dirty="0" smtClean="0"/>
              <a:t>भावना</a:t>
            </a:r>
            <a:endParaRPr lang="en-IN" dirty="0"/>
          </a:p>
        </p:txBody>
      </p:sp>
      <p:sp>
        <p:nvSpPr>
          <p:cNvPr id="33" name="Oval 32"/>
          <p:cNvSpPr/>
          <p:nvPr/>
        </p:nvSpPr>
        <p:spPr>
          <a:xfrm rot="19266416">
            <a:off x="5414806" y="3499627"/>
            <a:ext cx="1182044" cy="5977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i-IN" dirty="0" smtClean="0"/>
              <a:t>आदर</a:t>
            </a:r>
            <a:endParaRPr lang="en-IN" dirty="0"/>
          </a:p>
        </p:txBody>
      </p:sp>
      <p:sp>
        <p:nvSpPr>
          <p:cNvPr id="35" name="Rectangle 34"/>
          <p:cNvSpPr/>
          <p:nvPr/>
        </p:nvSpPr>
        <p:spPr>
          <a:xfrm>
            <a:off x="679952" y="58215"/>
            <a:ext cx="5627536" cy="646331"/>
          </a:xfrm>
          <a:prstGeom prst="rect">
            <a:avLst/>
          </a:prstGeom>
        </p:spPr>
        <p:txBody>
          <a:bodyPr wrap="square">
            <a:spAutoFit/>
          </a:bodyPr>
          <a:lstStyle/>
          <a:p>
            <a:pPr marL="285750" indent="-285750">
              <a:buFont typeface="Arial" panose="020B0604020202020204" pitchFamily="34" charset="0"/>
              <a:buChar char="•"/>
            </a:pPr>
            <a:r>
              <a:rPr lang="hi-IN" b="1" dirty="0" smtClean="0">
                <a:solidFill>
                  <a:srgbClr val="FF0000"/>
                </a:solidFill>
              </a:rPr>
              <a:t>प्रत्येक गोष्टीकडे एक उपभोग्य वस्तू म्ह्णून पाहायचं.. उपभोग घेतला, काम झालं, सोडून दिल.</a:t>
            </a:r>
            <a:endParaRPr lang="en-IN" b="1" dirty="0">
              <a:solidFill>
                <a:srgbClr val="FF0000"/>
              </a:solidFill>
            </a:endParaRPr>
          </a:p>
        </p:txBody>
      </p:sp>
    </p:spTree>
    <p:extLst>
      <p:ext uri="{BB962C8B-B14F-4D97-AF65-F5344CB8AC3E}">
        <p14:creationId xmlns:p14="http://schemas.microsoft.com/office/powerpoint/2010/main" val="40178422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0597" y="1019310"/>
            <a:ext cx="5278668" cy="5661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60437" y="188640"/>
            <a:ext cx="10657184" cy="523220"/>
          </a:xfrm>
          <a:prstGeom prst="rect">
            <a:avLst/>
          </a:prstGeom>
        </p:spPr>
        <p:txBody>
          <a:bodyPr wrap="square">
            <a:spAutoFit/>
          </a:bodyPr>
          <a:lstStyle/>
          <a:p>
            <a:r>
              <a:rPr lang="hi-IN" b="1" dirty="0" smtClean="0"/>
              <a:t>भारताला इतिहास नाही आणि हा देश गायी, शेण जाती पती, सती प्रथांचा, अशिक्षित लोकांचा</a:t>
            </a:r>
            <a:r>
              <a:rPr lang="en-US" b="1" dirty="0" smtClean="0"/>
              <a:t> </a:t>
            </a:r>
            <a:r>
              <a:rPr lang="hi-IN" sz="2800" b="1" dirty="0" smtClean="0">
                <a:solidFill>
                  <a:srgbClr val="FF0000"/>
                </a:solidFill>
              </a:rPr>
              <a:t>गरीब</a:t>
            </a:r>
            <a:r>
              <a:rPr lang="hi-IN" b="1" dirty="0" smtClean="0">
                <a:solidFill>
                  <a:srgbClr val="FF0000"/>
                </a:solidFill>
              </a:rPr>
              <a:t> </a:t>
            </a:r>
            <a:r>
              <a:rPr lang="hi-IN" b="1" dirty="0" smtClean="0"/>
              <a:t>देश आहे</a:t>
            </a:r>
            <a:endParaRPr lang="en-IN" b="1" dirty="0"/>
          </a:p>
        </p:txBody>
      </p:sp>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1277" y="1321236"/>
            <a:ext cx="2378075" cy="163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7666126" y="3474178"/>
            <a:ext cx="3351495" cy="369332"/>
          </a:xfrm>
          <a:prstGeom prst="rect">
            <a:avLst/>
          </a:prstGeom>
        </p:spPr>
        <p:txBody>
          <a:bodyPr wrap="none">
            <a:spAutoFit/>
          </a:bodyPr>
          <a:lstStyle/>
          <a:p>
            <a:r>
              <a:rPr lang="en-US" b="1" dirty="0"/>
              <a:t>Died: </a:t>
            </a:r>
            <a:r>
              <a:rPr lang="en-US" dirty="0"/>
              <a:t>24 April 2010 (age 83 years</a:t>
            </a:r>
            <a:r>
              <a:rPr lang="en-US" dirty="0" smtClean="0"/>
              <a:t>)</a:t>
            </a:r>
            <a:endParaRPr lang="en-IN" dirty="0"/>
          </a:p>
        </p:txBody>
      </p:sp>
    </p:spTree>
    <p:extLst>
      <p:ext uri="{BB962C8B-B14F-4D97-AF65-F5344CB8AC3E}">
        <p14:creationId xmlns:p14="http://schemas.microsoft.com/office/powerpoint/2010/main" val="442295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6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23"/>
            <a:ext cx="5084342" cy="3302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545013" y="270823"/>
            <a:ext cx="5802500" cy="5940088"/>
          </a:xfrm>
          <a:prstGeom prst="rect">
            <a:avLst/>
          </a:prstGeom>
        </p:spPr>
        <p:txBody>
          <a:bodyPr wrap="square">
            <a:spAutoFit/>
          </a:bodyPr>
          <a:lstStyle/>
          <a:p>
            <a:r>
              <a:rPr lang="en-US" sz="2000" dirty="0" smtClean="0"/>
              <a:t>- </a:t>
            </a:r>
            <a:r>
              <a:rPr lang="en-US" sz="2000" b="1" dirty="0" smtClean="0"/>
              <a:t>Textiles &amp; Handicrafts </a:t>
            </a:r>
            <a:r>
              <a:rPr lang="en-US" sz="2000" dirty="0" smtClean="0"/>
              <a:t>– India was renowned for its high-quality cotton, silk, and wool textiles, which were exported globally.</a:t>
            </a:r>
          </a:p>
          <a:p>
            <a:r>
              <a:rPr lang="en-US" sz="2000" dirty="0" smtClean="0"/>
              <a:t>- </a:t>
            </a:r>
            <a:r>
              <a:rPr lang="en-US" sz="2000" b="1" dirty="0"/>
              <a:t>Metallurgy &amp; Mining </a:t>
            </a:r>
            <a:r>
              <a:rPr lang="en-US" sz="2000" dirty="0" smtClean="0"/>
              <a:t>– Advanced metalworking techniques, including the production of high-quality steel (e.g., </a:t>
            </a:r>
            <a:r>
              <a:rPr lang="en-US" sz="2000" dirty="0" err="1" smtClean="0"/>
              <a:t>Wootz</a:t>
            </a:r>
            <a:r>
              <a:rPr lang="en-US" sz="2000" dirty="0" smtClean="0"/>
              <a:t> steel), made India a leader in metallurgy.</a:t>
            </a:r>
          </a:p>
          <a:p>
            <a:r>
              <a:rPr lang="en-US" sz="2000" dirty="0" smtClean="0"/>
              <a:t>- </a:t>
            </a:r>
            <a:r>
              <a:rPr lang="en-US" sz="2000" b="1" dirty="0"/>
              <a:t>Agriculture</a:t>
            </a:r>
            <a:r>
              <a:rPr lang="en-US" sz="2000" dirty="0" smtClean="0"/>
              <a:t> – India had a highly productive agricultural system, supplying rice, wheat, spices, and other crops to international markets.</a:t>
            </a:r>
          </a:p>
          <a:p>
            <a:r>
              <a:rPr lang="en-US" sz="2000" dirty="0" smtClean="0"/>
              <a:t>- </a:t>
            </a:r>
            <a:r>
              <a:rPr lang="en-US" sz="2000" b="1" dirty="0"/>
              <a:t>Shipbuilding &amp; Trade </a:t>
            </a:r>
            <a:r>
              <a:rPr lang="en-US" sz="2000" dirty="0" smtClean="0"/>
              <a:t>– Indian merchants and shipbuilders maintained a strong presence in global trade, with a fleet of thousands of ships.</a:t>
            </a:r>
          </a:p>
          <a:p>
            <a:r>
              <a:rPr lang="en-US" sz="2000" dirty="0" smtClean="0"/>
              <a:t>- </a:t>
            </a:r>
            <a:r>
              <a:rPr lang="en-US" sz="2000" b="1" dirty="0"/>
              <a:t>Jewelry &amp; Precious Metals </a:t>
            </a:r>
            <a:r>
              <a:rPr lang="en-US" sz="2000" dirty="0" smtClean="0"/>
              <a:t>– India was a major hub for gold, silver, and gemstone trade, absorbing a significant portion of global gold production.</a:t>
            </a:r>
          </a:p>
          <a:p>
            <a:r>
              <a:rPr lang="en-US" sz="2000" dirty="0" smtClean="0"/>
              <a:t>- </a:t>
            </a:r>
            <a:r>
              <a:rPr lang="en-US" sz="2000" b="1" dirty="0"/>
              <a:t>Spices &amp; Perfumes </a:t>
            </a:r>
            <a:r>
              <a:rPr lang="en-US" sz="2000" dirty="0" smtClean="0"/>
              <a:t>– Indian spices like black pepper, cardamom, and cinnamon were highly sought after in Europe and the Middle East</a:t>
            </a:r>
            <a:endParaRPr lang="en-US" sz="2000" dirty="0"/>
          </a:p>
        </p:txBody>
      </p:sp>
      <p:sp>
        <p:nvSpPr>
          <p:cNvPr id="8" name="Rectangle 7"/>
          <p:cNvSpPr/>
          <p:nvPr/>
        </p:nvSpPr>
        <p:spPr>
          <a:xfrm>
            <a:off x="23875" y="3902587"/>
            <a:ext cx="5084342" cy="2308324"/>
          </a:xfrm>
          <a:prstGeom prst="rect">
            <a:avLst/>
          </a:prstGeom>
        </p:spPr>
        <p:txBody>
          <a:bodyPr wrap="square">
            <a:spAutoFit/>
          </a:bodyPr>
          <a:lstStyle/>
          <a:p>
            <a:r>
              <a:rPr lang="en-US" b="1" dirty="0" smtClean="0"/>
              <a:t>Impact of Colonial Rule</a:t>
            </a:r>
            <a:endParaRPr lang="en-US" dirty="0" smtClean="0"/>
          </a:p>
          <a:p>
            <a:pPr lvl="1"/>
            <a:r>
              <a:rPr lang="en-US" dirty="0" smtClean="0"/>
              <a:t>Maddison’s data shows India’s share of the world economy </a:t>
            </a:r>
            <a:r>
              <a:rPr lang="en-US" b="1" dirty="0" smtClean="0"/>
              <a:t>fell from 24.4% in 1500 to just 4.2% in 1950</a:t>
            </a:r>
            <a:r>
              <a:rPr lang="en-US" dirty="0" smtClean="0"/>
              <a:t>, largely due to British colonial policies.</a:t>
            </a:r>
          </a:p>
          <a:p>
            <a:pPr lvl="1"/>
            <a:r>
              <a:rPr lang="en-US" dirty="0" smtClean="0"/>
              <a:t>The </a:t>
            </a:r>
            <a:r>
              <a:rPr lang="en-US" b="1" dirty="0" smtClean="0"/>
              <a:t>drain of wealth</a:t>
            </a:r>
            <a:r>
              <a:rPr lang="en-US" dirty="0" smtClean="0"/>
              <a:t> and economic exploitation during British rule led to stagnation and poverty.</a:t>
            </a:r>
          </a:p>
        </p:txBody>
      </p:sp>
    </p:spTree>
    <p:extLst>
      <p:ext uri="{BB962C8B-B14F-4D97-AF65-F5344CB8AC3E}">
        <p14:creationId xmlns:p14="http://schemas.microsoft.com/office/powerpoint/2010/main" val="531711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4270" y="980728"/>
            <a:ext cx="3629206"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7142" y="517405"/>
            <a:ext cx="7357128" cy="3323987"/>
          </a:xfrm>
          <a:prstGeom prst="rect">
            <a:avLst/>
          </a:prstGeom>
        </p:spPr>
        <p:txBody>
          <a:bodyPr wrap="square">
            <a:spAutoFit/>
          </a:bodyPr>
          <a:lstStyle/>
          <a:p>
            <a:r>
              <a:rPr lang="en-US" dirty="0" err="1" smtClean="0"/>
              <a:t>Dharampal</a:t>
            </a:r>
            <a:r>
              <a:rPr lang="en-US" dirty="0" smtClean="0"/>
              <a:t> </a:t>
            </a:r>
            <a:r>
              <a:rPr lang="en-US" dirty="0"/>
              <a:t>primary works are based on documentation by the </a:t>
            </a:r>
            <a:r>
              <a:rPr lang="en-US" dirty="0">
                <a:hlinkClick r:id="rId3" tooltip="British Raj"/>
              </a:rPr>
              <a:t>colonial government</a:t>
            </a:r>
            <a:r>
              <a:rPr lang="en-US" dirty="0"/>
              <a:t> on Indian education, agriculture, technology, and arts during the period of colonial rule in India</a:t>
            </a:r>
            <a:r>
              <a:rPr lang="en-US" dirty="0" smtClean="0"/>
              <a:t>.</a:t>
            </a:r>
          </a:p>
          <a:p>
            <a:endParaRPr lang="en-US" baseline="30000" dirty="0"/>
          </a:p>
          <a:p>
            <a:r>
              <a:rPr lang="en-US" dirty="0" smtClean="0"/>
              <a:t>He </a:t>
            </a:r>
            <a:r>
              <a:rPr lang="en-US" dirty="0"/>
              <a:t>is most known for his works </a:t>
            </a:r>
            <a:r>
              <a:rPr lang="en-US" i="1" dirty="0"/>
              <a:t>The Beautiful Tree: Indigenous Indian Education in the Eighteenth Century</a:t>
            </a:r>
            <a:r>
              <a:rPr lang="en-US" dirty="0"/>
              <a:t> (1983</a:t>
            </a:r>
            <a:r>
              <a:rPr lang="en-US" dirty="0" smtClean="0"/>
              <a:t>)</a:t>
            </a:r>
          </a:p>
          <a:p>
            <a:endParaRPr lang="en-US" i="1" dirty="0"/>
          </a:p>
          <a:p>
            <a:r>
              <a:rPr lang="en-US" dirty="0" err="1" smtClean="0"/>
              <a:t>Dharampal</a:t>
            </a:r>
            <a:r>
              <a:rPr lang="en-US" dirty="0" smtClean="0"/>
              <a:t> </a:t>
            </a:r>
            <a:r>
              <a:rPr lang="en-US" dirty="0"/>
              <a:t>was instrumental in changing the understanding of pre-colonial </a:t>
            </a:r>
            <a:r>
              <a:rPr lang="en-US" dirty="0">
                <a:hlinkClick r:id="rId4" tooltip="Education in India"/>
              </a:rPr>
              <a:t>Indian education system</a:t>
            </a:r>
            <a:r>
              <a:rPr lang="en-US" dirty="0" smtClean="0"/>
              <a:t>.</a:t>
            </a:r>
            <a:endParaRPr lang="en-US" dirty="0"/>
          </a:p>
          <a:p>
            <a:endParaRPr lang="en-US" dirty="0"/>
          </a:p>
          <a:p>
            <a:r>
              <a:rPr lang="en-US" dirty="0" err="1" smtClean="0"/>
              <a:t>Dharampal</a:t>
            </a:r>
            <a:r>
              <a:rPr lang="en-US" dirty="0" smtClean="0"/>
              <a:t> was instrumental in changing the understanding of pre-colonial Indian education system</a:t>
            </a:r>
            <a:endParaRPr lang="en-IN" dirty="0"/>
          </a:p>
        </p:txBody>
      </p:sp>
      <p:sp>
        <p:nvSpPr>
          <p:cNvPr id="6" name="Rectangle 5"/>
          <p:cNvSpPr/>
          <p:nvPr/>
        </p:nvSpPr>
        <p:spPr>
          <a:xfrm>
            <a:off x="6214714" y="4335990"/>
            <a:ext cx="5307363" cy="923330"/>
          </a:xfrm>
          <a:prstGeom prst="rect">
            <a:avLst/>
          </a:prstGeom>
        </p:spPr>
        <p:txBody>
          <a:bodyPr wrap="square">
            <a:spAutoFit/>
          </a:bodyPr>
          <a:lstStyle/>
          <a:p>
            <a:pPr algn="ctr"/>
            <a:r>
              <a:rPr lang="en-US" dirty="0" smtClean="0"/>
              <a:t> </a:t>
            </a:r>
            <a:r>
              <a:rPr lang="en-US" b="1" dirty="0" err="1" smtClean="0"/>
              <a:t>धरमपाल</a:t>
            </a:r>
            <a:r>
              <a:rPr lang="en-US" b="1" dirty="0" smtClean="0"/>
              <a:t> </a:t>
            </a:r>
          </a:p>
          <a:p>
            <a:pPr algn="ctr"/>
            <a:r>
              <a:rPr lang="en-US" dirty="0" smtClean="0"/>
              <a:t>(19 February 1922 – 24 October 2006) was an Indian historian, historiographer, and a Gandhian thinker.] </a:t>
            </a:r>
            <a:endParaRPr lang="en-US" dirty="0"/>
          </a:p>
        </p:txBody>
      </p:sp>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2604" y="3912491"/>
            <a:ext cx="2653301" cy="2945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296613" y="170540"/>
            <a:ext cx="11225464" cy="369332"/>
          </a:xfrm>
          <a:prstGeom prst="rect">
            <a:avLst/>
          </a:prstGeom>
        </p:spPr>
        <p:txBody>
          <a:bodyPr wrap="square">
            <a:spAutoFit/>
          </a:bodyPr>
          <a:lstStyle/>
          <a:p>
            <a:pPr algn="ctr"/>
            <a:r>
              <a:rPr lang="hi-IN" b="1" dirty="0" smtClean="0">
                <a:solidFill>
                  <a:srgbClr val="FF0000"/>
                </a:solidFill>
              </a:rPr>
              <a:t>उच्चवर्णियांनी निम्नवर्णीयांना</a:t>
            </a:r>
            <a:r>
              <a:rPr lang="en-US" b="1" dirty="0" smtClean="0">
                <a:solidFill>
                  <a:srgbClr val="FF0000"/>
                </a:solidFill>
              </a:rPr>
              <a:t> </a:t>
            </a:r>
            <a:r>
              <a:rPr lang="hi-IN" b="1" dirty="0" smtClean="0">
                <a:solidFill>
                  <a:srgbClr val="FF0000"/>
                </a:solidFill>
              </a:rPr>
              <a:t>वर</a:t>
            </a:r>
            <a:r>
              <a:rPr lang="en-US" b="1" dirty="0" smtClean="0">
                <a:solidFill>
                  <a:srgbClr val="FF0000"/>
                </a:solidFill>
              </a:rPr>
              <a:t> </a:t>
            </a:r>
            <a:r>
              <a:rPr lang="hi-IN" b="1" dirty="0" smtClean="0">
                <a:solidFill>
                  <a:srgbClr val="FF0000"/>
                </a:solidFill>
              </a:rPr>
              <a:t>अत्याचार केले आणि त्यांना शिक्षणापासून वंचित ठेवलं</a:t>
            </a:r>
            <a:r>
              <a:rPr lang="en-US" dirty="0" smtClean="0">
                <a:solidFill>
                  <a:srgbClr val="FF0000"/>
                </a:solidFill>
              </a:rPr>
              <a:t>.. </a:t>
            </a:r>
            <a:endParaRPr lang="en-IN" dirty="0">
              <a:solidFill>
                <a:srgbClr val="FF0000"/>
              </a:solidFill>
            </a:endParaRPr>
          </a:p>
        </p:txBody>
      </p:sp>
    </p:spTree>
    <p:extLst>
      <p:ext uri="{BB962C8B-B14F-4D97-AF65-F5344CB8AC3E}">
        <p14:creationId xmlns:p14="http://schemas.microsoft.com/office/powerpoint/2010/main" val="2794611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3317" y="119636"/>
            <a:ext cx="10655741" cy="2585323"/>
          </a:xfrm>
          <a:prstGeom prst="rect">
            <a:avLst/>
          </a:prstGeom>
        </p:spPr>
        <p:txBody>
          <a:bodyPr wrap="square">
            <a:spAutoFit/>
          </a:bodyPr>
          <a:lstStyle/>
          <a:p>
            <a:r>
              <a:rPr lang="en-IN" sz="2400" b="1" dirty="0"/>
              <a:t>Nature of Indigenous Educational </a:t>
            </a:r>
            <a:r>
              <a:rPr lang="en-IN" sz="2400" b="1" dirty="0" smtClean="0"/>
              <a:t>Institutions</a:t>
            </a:r>
          </a:p>
          <a:p>
            <a:endParaRPr lang="en-IN" dirty="0"/>
          </a:p>
          <a:p>
            <a:pPr marL="285750" indent="-285750">
              <a:buFont typeface="Arial" panose="020B0604020202020204" pitchFamily="34" charset="0"/>
              <a:buChar char="•"/>
            </a:pPr>
            <a:r>
              <a:rPr lang="en-IN" sz="2000" dirty="0"/>
              <a:t>Indigenous education was primarily conducted in traditional institutions like </a:t>
            </a:r>
            <a:r>
              <a:rPr lang="en-IN" sz="2000" dirty="0" err="1"/>
              <a:t>pathshalas</a:t>
            </a:r>
            <a:r>
              <a:rPr lang="en-IN" sz="2000" dirty="0"/>
              <a:t>, madrassahs, and </a:t>
            </a:r>
            <a:r>
              <a:rPr lang="en-IN" sz="2000" dirty="0" err="1"/>
              <a:t>gurukulas</a:t>
            </a:r>
            <a:r>
              <a:rPr lang="en-IN" sz="2000" dirty="0"/>
              <a:t>, which played crucial cultural roles in their communities. </a:t>
            </a:r>
          </a:p>
          <a:p>
            <a:pPr marL="285750" indent="-285750">
              <a:buFont typeface="Arial" panose="020B0604020202020204" pitchFamily="34" charset="0"/>
              <a:buChar char="•"/>
            </a:pPr>
            <a:r>
              <a:rPr lang="en-IN" sz="2000" dirty="0" smtClean="0"/>
              <a:t>​The </a:t>
            </a:r>
            <a:r>
              <a:rPr lang="en-IN" sz="2000" dirty="0"/>
              <a:t>term 'school' inadequately represents the multifaceted functions of these institutions. </a:t>
            </a:r>
          </a:p>
          <a:p>
            <a:pPr marL="285750" indent="-285750">
              <a:buFont typeface="Arial" panose="020B0604020202020204" pitchFamily="34" charset="0"/>
              <a:buChar char="•"/>
            </a:pPr>
            <a:r>
              <a:rPr lang="en-IN" sz="2000" dirty="0"/>
              <a:t>​Traditional institutions included </a:t>
            </a:r>
            <a:r>
              <a:rPr lang="en-IN" sz="2000" dirty="0" err="1"/>
              <a:t>pathshalas</a:t>
            </a:r>
            <a:r>
              <a:rPr lang="en-IN" sz="2000" dirty="0"/>
              <a:t>, madrassahs, and </a:t>
            </a:r>
            <a:r>
              <a:rPr lang="en-IN" sz="2000" dirty="0" err="1"/>
              <a:t>gurukulas</a:t>
            </a:r>
            <a:r>
              <a:rPr lang="en-IN" sz="2000" dirty="0"/>
              <a:t>. </a:t>
            </a:r>
          </a:p>
          <a:p>
            <a:pPr marL="285750" indent="-285750">
              <a:buFont typeface="Arial" panose="020B0604020202020204" pitchFamily="34" charset="0"/>
              <a:buChar char="•"/>
            </a:pPr>
            <a:r>
              <a:rPr lang="en-IN" sz="2000" dirty="0"/>
              <a:t>​Education was community-supported, often funded by local contributions.</a:t>
            </a:r>
          </a:p>
          <a:p>
            <a:pPr marL="285750" indent="-285750">
              <a:buFont typeface="Arial" panose="020B0604020202020204" pitchFamily="34" charset="0"/>
              <a:buChar char="•"/>
            </a:pPr>
            <a:r>
              <a:rPr lang="en-IN" sz="2000" dirty="0"/>
              <a:t>The term 'school' fails to capture the cultural significance of these institutions. </a:t>
            </a:r>
          </a:p>
        </p:txBody>
      </p:sp>
      <p:sp>
        <p:nvSpPr>
          <p:cNvPr id="5" name="Rectangle 4"/>
          <p:cNvSpPr/>
          <p:nvPr/>
        </p:nvSpPr>
        <p:spPr>
          <a:xfrm>
            <a:off x="406622" y="3284984"/>
            <a:ext cx="10827023" cy="2400657"/>
          </a:xfrm>
          <a:prstGeom prst="rect">
            <a:avLst/>
          </a:prstGeom>
        </p:spPr>
        <p:txBody>
          <a:bodyPr wrap="square">
            <a:spAutoFit/>
          </a:bodyPr>
          <a:lstStyle/>
          <a:p>
            <a:r>
              <a:rPr lang="hi-IN" sz="2400" b="1" dirty="0" smtClean="0"/>
              <a:t>स्वदेशी शैक्षणिक संस्थांचे स्वरूप</a:t>
            </a:r>
            <a:endParaRPr lang="en-US" sz="2400" b="1" dirty="0" smtClean="0"/>
          </a:p>
          <a:p>
            <a:endParaRPr lang="en-US" dirty="0"/>
          </a:p>
          <a:p>
            <a:pPr marL="285750" indent="-285750">
              <a:buFont typeface="Arial" panose="020B0604020202020204" pitchFamily="34" charset="0"/>
              <a:buChar char="•"/>
            </a:pPr>
            <a:r>
              <a:rPr lang="hi-IN" dirty="0" smtClean="0"/>
              <a:t>स्थानिक शिक्षण प्रामुख्याने पाठशाळा, मदरसा आणि गुरुकुलांसारख्या पारंपारिक संस्थांमध्ये दिले जात असे, ज्यांनी त्यांच्या समुदायांमध्ये महत्त्वपूर्ण सांस्कृतिक भूमिका बजावली. </a:t>
            </a:r>
          </a:p>
          <a:p>
            <a:pPr marL="285750" indent="-285750">
              <a:buFont typeface="Arial" panose="020B0604020202020204" pitchFamily="34" charset="0"/>
              <a:buChar char="•"/>
            </a:pPr>
            <a:r>
              <a:rPr lang="hi-IN" dirty="0" smtClean="0"/>
              <a:t>​'शाळा' हा शब्द या संस्थांच्या बहुआयामी कार्यांचे पुरेसे प्रतिनिधित्व करत नाही. </a:t>
            </a:r>
          </a:p>
          <a:p>
            <a:pPr marL="285750" indent="-285750">
              <a:buFont typeface="Arial" panose="020B0604020202020204" pitchFamily="34" charset="0"/>
              <a:buChar char="•"/>
            </a:pPr>
            <a:r>
              <a:rPr lang="hi-IN" dirty="0" smtClean="0"/>
              <a:t>​पारंपारिक संस्थांमध्ये पाठशाळा, मदरसा आणि गुरुकुलांचा समावेश होता. </a:t>
            </a:r>
          </a:p>
          <a:p>
            <a:pPr marL="285750" indent="-285750">
              <a:buFont typeface="Arial" panose="020B0604020202020204" pitchFamily="34" charset="0"/>
              <a:buChar char="•"/>
            </a:pPr>
            <a:r>
              <a:rPr lang="hi-IN" dirty="0" smtClean="0"/>
              <a:t>​शिक्षण समुदाय-समर्थित होते, बहुतेकदा स्थानिक योगदानाद्वारे निधी दिला जात असे.</a:t>
            </a:r>
          </a:p>
          <a:p>
            <a:pPr marL="285750" indent="-285750">
              <a:buFont typeface="Arial" panose="020B0604020202020204" pitchFamily="34" charset="0"/>
              <a:buChar char="•"/>
            </a:pPr>
            <a:r>
              <a:rPr lang="hi-IN" dirty="0" smtClean="0"/>
              <a:t>'शाळा' हा शब्द या संस्थांचे सांस्कृतिक महत्त्व समजण्यात अपयशी ठरतो.</a:t>
            </a:r>
            <a:endParaRPr lang="en-IN" dirty="0"/>
          </a:p>
        </p:txBody>
      </p:sp>
    </p:spTree>
    <p:extLst>
      <p:ext uri="{BB962C8B-B14F-4D97-AF65-F5344CB8AC3E}">
        <p14:creationId xmlns:p14="http://schemas.microsoft.com/office/powerpoint/2010/main" val="14950335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463" y="116632"/>
            <a:ext cx="10797475" cy="2893100"/>
          </a:xfrm>
          <a:prstGeom prst="rect">
            <a:avLst/>
          </a:prstGeom>
        </p:spPr>
        <p:txBody>
          <a:bodyPr wrap="square">
            <a:spAutoFit/>
          </a:bodyPr>
          <a:lstStyle/>
          <a:p>
            <a:r>
              <a:rPr lang="en-US" sz="2400" b="1" dirty="0" smtClean="0"/>
              <a:t>Key Findings from Educational Surveys</a:t>
            </a:r>
          </a:p>
          <a:p>
            <a:endParaRPr lang="en-US" dirty="0" smtClean="0"/>
          </a:p>
          <a:p>
            <a:pPr marL="342900" indent="-342900" algn="just">
              <a:buFont typeface="Arial" panose="020B0604020202020204" pitchFamily="34" charset="0"/>
              <a:buChar char="•"/>
            </a:pPr>
            <a:r>
              <a:rPr lang="en-US" sz="2000" dirty="0" smtClean="0"/>
              <a:t>William Adam's reports indicated around 100,000 village schools in Bengal and Bihar during the 1830s, based on observations rather than official records.</a:t>
            </a:r>
          </a:p>
          <a:p>
            <a:pPr marL="342900" indent="-342900" algn="just">
              <a:buFont typeface="Arial" panose="020B0604020202020204" pitchFamily="34" charset="0"/>
              <a:buChar char="•"/>
            </a:pPr>
            <a:r>
              <a:rPr lang="en-US" sz="2000" dirty="0" smtClean="0"/>
              <a:t>​Similar findings were noted in other presidencies, highlighting the extensive reach of education.</a:t>
            </a:r>
          </a:p>
          <a:p>
            <a:pPr marL="342900" indent="-342900" algn="just">
              <a:buFont typeface="Arial" panose="020B0604020202020204" pitchFamily="34" charset="0"/>
              <a:buChar char="•"/>
            </a:pPr>
            <a:r>
              <a:rPr lang="en-US" sz="2000" dirty="0" smtClean="0"/>
              <a:t>Adam reported approximately 100,000 village schools in Bengal and Bihar.</a:t>
            </a:r>
          </a:p>
          <a:p>
            <a:pPr marL="342900" indent="-342900" algn="just">
              <a:buFont typeface="Arial" panose="020B0604020202020204" pitchFamily="34" charset="0"/>
              <a:buChar char="•"/>
            </a:pPr>
            <a:r>
              <a:rPr lang="en-US" sz="2000" dirty="0" smtClean="0"/>
              <a:t>Observations from various officials noted widespread schooling in villages.</a:t>
            </a:r>
          </a:p>
          <a:p>
            <a:pPr marL="342900" indent="-342900" algn="just">
              <a:buFont typeface="Arial" panose="020B0604020202020204" pitchFamily="34" charset="0"/>
              <a:buChar char="•"/>
            </a:pPr>
            <a:r>
              <a:rPr lang="en-US" sz="2000" dirty="0" smtClean="0"/>
              <a:t>The findings have been interpreted differently, reflecting nationalist sentiments and administrative skepticism.</a:t>
            </a:r>
            <a:endParaRPr lang="en-IN" sz="2000" dirty="0"/>
          </a:p>
        </p:txBody>
      </p:sp>
      <p:sp>
        <p:nvSpPr>
          <p:cNvPr id="6" name="Rectangle 5"/>
          <p:cNvSpPr/>
          <p:nvPr/>
        </p:nvSpPr>
        <p:spPr>
          <a:xfrm>
            <a:off x="149791" y="3284984"/>
            <a:ext cx="10978944" cy="3200876"/>
          </a:xfrm>
          <a:prstGeom prst="rect">
            <a:avLst/>
          </a:prstGeom>
        </p:spPr>
        <p:txBody>
          <a:bodyPr wrap="square">
            <a:spAutoFit/>
          </a:bodyPr>
          <a:lstStyle/>
          <a:p>
            <a:r>
              <a:rPr lang="hi-IN" sz="2400" b="1" dirty="0" smtClean="0"/>
              <a:t>शैक्षणिक सर्वेक्षणातील महत्त्वाचे निष्कर्ष</a:t>
            </a:r>
          </a:p>
          <a:p>
            <a:endParaRPr lang="hi-IN" dirty="0" smtClean="0"/>
          </a:p>
          <a:p>
            <a:pPr marL="285750" indent="-285750" algn="just">
              <a:buFont typeface="Arial" panose="020B0604020202020204" pitchFamily="34" charset="0"/>
              <a:buChar char="•"/>
            </a:pPr>
            <a:r>
              <a:rPr lang="hi-IN" sz="2000" dirty="0" smtClean="0"/>
              <a:t>विल्यम अॅडमच्या अहवालात १८३० च्या दशकात बंगाल आणि बिहारमध्ये सुमारे १००,००० ग्रामीण शाळा असल्याचे दिसून आले होते, जे अधिकृत नोंदींऐवजी निरीक्षणांवर आधारित होते.</a:t>
            </a:r>
          </a:p>
          <a:p>
            <a:pPr marL="285750" indent="-285750" algn="just">
              <a:buFont typeface="Arial" panose="020B0604020202020204" pitchFamily="34" charset="0"/>
              <a:buChar char="•"/>
            </a:pPr>
            <a:r>
              <a:rPr lang="hi-IN" sz="2000" dirty="0" smtClean="0"/>
              <a:t>इतर प्रांतांमध्ये मध्येही असेच निष्कर्ष आढळून आले होते, ज्यातून शिक्षणाचा व्यापक प्रसार दिसून आला.</a:t>
            </a:r>
          </a:p>
          <a:p>
            <a:pPr marL="285750" indent="-285750" algn="just">
              <a:buFont typeface="Arial" panose="020B0604020202020204" pitchFamily="34" charset="0"/>
              <a:buChar char="•"/>
            </a:pPr>
            <a:r>
              <a:rPr lang="hi-IN" sz="2000" dirty="0" smtClean="0"/>
              <a:t>अ‍ॅडमने बंगाल आणि बिहारमध्ये सुमारे १००,००० ग्रामीण शाळा असल्याचे नोंदवले.</a:t>
            </a:r>
          </a:p>
          <a:p>
            <a:pPr marL="285750" indent="-285750" algn="just">
              <a:buFont typeface="Arial" panose="020B0604020202020204" pitchFamily="34" charset="0"/>
              <a:buChar char="•"/>
            </a:pPr>
            <a:r>
              <a:rPr lang="hi-IN" sz="2000" dirty="0" smtClean="0"/>
              <a:t>विविध अधिकाऱ्यांच्या निरीक्षणात खेड्यांमध्ये व्यापक शालेय शिक्षण असल्याचे आढळून आले.</a:t>
            </a:r>
          </a:p>
          <a:p>
            <a:pPr marL="285750" indent="-285750" algn="just">
              <a:buFont typeface="Arial" panose="020B0604020202020204" pitchFamily="34" charset="0"/>
              <a:buChar char="•"/>
            </a:pPr>
            <a:r>
              <a:rPr lang="hi-IN" sz="2000" dirty="0" smtClean="0"/>
              <a:t>राष्ट्रवादी भावना आणि प्रशासकीय संशयाचे प्रतिबिंब पडून या निष्कर्षांचा वेगळ्या पद्धतीने अर्थ लावण्यात आला आहे.</a:t>
            </a:r>
            <a:endParaRPr lang="en-IN" sz="2000" dirty="0"/>
          </a:p>
        </p:txBody>
      </p:sp>
    </p:spTree>
    <p:extLst>
      <p:ext uri="{BB962C8B-B14F-4D97-AF65-F5344CB8AC3E}">
        <p14:creationId xmlns:p14="http://schemas.microsoft.com/office/powerpoint/2010/main" val="17335742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6933" y="260648"/>
            <a:ext cx="10888210" cy="2893100"/>
          </a:xfrm>
          <a:prstGeom prst="rect">
            <a:avLst/>
          </a:prstGeom>
        </p:spPr>
        <p:txBody>
          <a:bodyPr wrap="square">
            <a:spAutoFit/>
          </a:bodyPr>
          <a:lstStyle/>
          <a:p>
            <a:r>
              <a:rPr lang="en-US" sz="2400" b="1" dirty="0" smtClean="0"/>
              <a:t>Caste Distribution in Education</a:t>
            </a:r>
          </a:p>
          <a:p>
            <a:endParaRPr lang="en-US" dirty="0" smtClean="0"/>
          </a:p>
          <a:p>
            <a:pPr marL="342900" indent="-342900" algn="just">
              <a:buFont typeface="Arial" panose="020B0604020202020204" pitchFamily="34" charset="0"/>
              <a:buChar char="•"/>
            </a:pPr>
            <a:r>
              <a:rPr lang="en-US" sz="2000" dirty="0"/>
              <a:t>Data from the Madras Presidency revealed that education was not limited to higher castes; a significant number of students came from </a:t>
            </a:r>
            <a:r>
              <a:rPr lang="en-US" sz="2000" dirty="0" err="1"/>
              <a:t>Soodra</a:t>
            </a:r>
            <a:r>
              <a:rPr lang="en-US" sz="2000" dirty="0"/>
              <a:t> and lower castes, particularly in Tamil-speaking areas. </a:t>
            </a:r>
          </a:p>
          <a:p>
            <a:pPr marL="342900" indent="-342900" algn="just">
              <a:buFont typeface="Arial" panose="020B0604020202020204" pitchFamily="34" charset="0"/>
              <a:buChar char="•"/>
            </a:pPr>
            <a:r>
              <a:rPr lang="en-US" sz="2000" dirty="0"/>
              <a:t>​This challenges the long-held belief that education was primarily for the twice-born.</a:t>
            </a:r>
          </a:p>
          <a:p>
            <a:pPr marL="342900" indent="-342900" algn="just">
              <a:buFont typeface="Arial" panose="020B0604020202020204" pitchFamily="34" charset="0"/>
              <a:buChar char="•"/>
            </a:pPr>
            <a:r>
              <a:rPr lang="en-US" sz="2000" dirty="0"/>
              <a:t>In Tamil-speaking areas, </a:t>
            </a:r>
            <a:r>
              <a:rPr lang="en-US" sz="2000" dirty="0" err="1"/>
              <a:t>Soodras</a:t>
            </a:r>
            <a:r>
              <a:rPr lang="en-US" sz="2000" dirty="0"/>
              <a:t> and lower castes made up over 70% of school-going students. </a:t>
            </a:r>
          </a:p>
          <a:p>
            <a:pPr marL="342900" indent="-342900" algn="just">
              <a:buFont typeface="Arial" panose="020B0604020202020204" pitchFamily="34" charset="0"/>
              <a:buChar char="•"/>
            </a:pPr>
            <a:r>
              <a:rPr lang="en-US" sz="2000" dirty="0"/>
              <a:t>The proportion of twice-born students was significantly lower than previously assumed.</a:t>
            </a:r>
          </a:p>
          <a:p>
            <a:pPr marL="342900" indent="-342900" algn="just">
              <a:buFont typeface="Arial" panose="020B0604020202020204" pitchFamily="34" charset="0"/>
              <a:buChar char="•"/>
            </a:pPr>
            <a:r>
              <a:rPr lang="en-US" sz="2000" dirty="0"/>
              <a:t>The data indicates a more inclusive educational landscape than traditionally recognized.</a:t>
            </a:r>
            <a:endParaRPr lang="en-IN" sz="2000" dirty="0"/>
          </a:p>
        </p:txBody>
      </p:sp>
      <p:sp>
        <p:nvSpPr>
          <p:cNvPr id="5" name="Rectangle 4"/>
          <p:cNvSpPr/>
          <p:nvPr/>
        </p:nvSpPr>
        <p:spPr>
          <a:xfrm>
            <a:off x="284405" y="3461525"/>
            <a:ext cx="10920738" cy="3200876"/>
          </a:xfrm>
          <a:prstGeom prst="rect">
            <a:avLst/>
          </a:prstGeom>
        </p:spPr>
        <p:txBody>
          <a:bodyPr wrap="square">
            <a:spAutoFit/>
          </a:bodyPr>
          <a:lstStyle/>
          <a:p>
            <a:r>
              <a:rPr lang="hi-IN" sz="2400" b="1" dirty="0" smtClean="0"/>
              <a:t>शिक्षणातील जातींचे वितरण</a:t>
            </a:r>
          </a:p>
          <a:p>
            <a:endParaRPr lang="hi-IN" dirty="0" smtClean="0"/>
          </a:p>
          <a:p>
            <a:pPr marL="285750" indent="-285750" algn="just">
              <a:buFont typeface="Arial" panose="020B0604020202020204" pitchFamily="34" charset="0"/>
              <a:buChar char="•"/>
            </a:pPr>
            <a:r>
              <a:rPr lang="hi-IN" sz="2000" dirty="0" smtClean="0"/>
              <a:t>मद्रास प्रेसिडेन्सीमधील आकडेवारीवरून असे दिसून आले की शिक्षण केवळ उच्च जातींपुरते मर्यादित नव्हते; विशेषतः तमिळ भाषिक भागात, सूद्र आणि खालच्या जातींमधून मोठ्या संख्येने विद्यार्थी येत होते.</a:t>
            </a:r>
          </a:p>
          <a:p>
            <a:pPr marL="285750" indent="-285750" algn="just">
              <a:buFont typeface="Arial" panose="020B0604020202020204" pitchFamily="34" charset="0"/>
              <a:buChar char="•"/>
            </a:pPr>
            <a:r>
              <a:rPr lang="hi-IN" sz="2000" dirty="0" smtClean="0"/>
              <a:t>हे शिक्षण प्रामुख्याने दोनदा जन्मलेल्यांसाठी आहे या दीर्घकाळाच्या समजुतीला आव्हान देते.</a:t>
            </a:r>
          </a:p>
          <a:p>
            <a:pPr marL="285750" indent="-285750" algn="just">
              <a:buFont typeface="Arial" panose="020B0604020202020204" pitchFamily="34" charset="0"/>
              <a:buChar char="•"/>
            </a:pPr>
            <a:r>
              <a:rPr lang="hi-IN" sz="2000" dirty="0" smtClean="0"/>
              <a:t>तमिळ भाषिक भागात, शाळेत जाणाऱ्या विद्यार्थ्यांपैकी ७०% पेक्षा जास्त सूद्र आणि खालच्या जाती आहेत.</a:t>
            </a:r>
          </a:p>
          <a:p>
            <a:pPr marL="285750" indent="-285750" algn="just">
              <a:buFont typeface="Arial" panose="020B0604020202020204" pitchFamily="34" charset="0"/>
              <a:buChar char="•"/>
            </a:pPr>
            <a:r>
              <a:rPr lang="hi-IN" sz="2000" dirty="0" smtClean="0"/>
              <a:t>दोनदा जन्मलेल्या विद्यार्थ्यांचे प्रमाण पूर्वी गृहीत धरल्यापेक्षा लक्षणीयरीत्या कमी होते.</a:t>
            </a:r>
          </a:p>
          <a:p>
            <a:pPr marL="285750" indent="-285750" algn="just">
              <a:buFont typeface="Arial" panose="020B0604020202020204" pitchFamily="34" charset="0"/>
              <a:buChar char="•"/>
            </a:pPr>
            <a:r>
              <a:rPr lang="hi-IN" sz="2000" dirty="0" smtClean="0"/>
              <a:t>पारंपारिकरित्या ओळखल्या जाणाऱ्यांपेक्षा अधिक समावेशक शैक्षणिक परिदृश्य दर्शविते.</a:t>
            </a:r>
            <a:endParaRPr lang="en-IN" sz="2000" dirty="0"/>
          </a:p>
        </p:txBody>
      </p:sp>
    </p:spTree>
    <p:extLst>
      <p:ext uri="{BB962C8B-B14F-4D97-AF65-F5344CB8AC3E}">
        <p14:creationId xmlns:p14="http://schemas.microsoft.com/office/powerpoint/2010/main" val="6430300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5828" y="2"/>
            <a:ext cx="10980049" cy="2585323"/>
          </a:xfrm>
          <a:prstGeom prst="rect">
            <a:avLst/>
          </a:prstGeom>
        </p:spPr>
        <p:txBody>
          <a:bodyPr wrap="square">
            <a:spAutoFit/>
          </a:bodyPr>
          <a:lstStyle/>
          <a:p>
            <a:r>
              <a:rPr lang="en-US" sz="2400" b="1" dirty="0" smtClean="0"/>
              <a:t>Language and Content of Education</a:t>
            </a:r>
          </a:p>
          <a:p>
            <a:endParaRPr lang="en-US" dirty="0" smtClean="0"/>
          </a:p>
          <a:p>
            <a:pPr marL="285750" indent="-285750">
              <a:buFont typeface="Arial" panose="020B0604020202020204" pitchFamily="34" charset="0"/>
              <a:buChar char="•"/>
            </a:pPr>
            <a:r>
              <a:rPr lang="en-US" sz="2000" dirty="0" smtClean="0"/>
              <a:t>The surveys provided insights into the languages of instruction and subjects taught, with a predominance of Tamil and Telugu schools. </a:t>
            </a:r>
          </a:p>
          <a:p>
            <a:pPr marL="285750" indent="-285750">
              <a:buFont typeface="Arial" panose="020B0604020202020204" pitchFamily="34" charset="0"/>
              <a:buChar char="•"/>
            </a:pPr>
            <a:r>
              <a:rPr lang="en-US" sz="2000" dirty="0" smtClean="0"/>
              <a:t>​The curriculum included reading, writing, arithmetic, and various traditional texts.</a:t>
            </a:r>
          </a:p>
          <a:p>
            <a:pPr marL="285750" indent="-285750">
              <a:buFont typeface="Arial" panose="020B0604020202020204" pitchFamily="34" charset="0"/>
              <a:buChar char="•"/>
            </a:pPr>
            <a:r>
              <a:rPr lang="en-US" sz="2000" dirty="0" smtClean="0"/>
              <a:t>Schools primarily taught in Tamil and Telugu, with some Persian and English instruction.</a:t>
            </a:r>
          </a:p>
          <a:p>
            <a:pPr marL="285750" indent="-285750">
              <a:buFont typeface="Arial" panose="020B0604020202020204" pitchFamily="34" charset="0"/>
              <a:buChar char="•"/>
            </a:pPr>
            <a:r>
              <a:rPr lang="en-US" sz="2000" dirty="0" smtClean="0"/>
              <a:t>Main subjects included reading, writing, arithmetic, and traditional literature.</a:t>
            </a:r>
          </a:p>
          <a:p>
            <a:pPr marL="285750" indent="-285750">
              <a:buFont typeface="Arial" panose="020B0604020202020204" pitchFamily="34" charset="0"/>
              <a:buChar char="•"/>
            </a:pPr>
            <a:r>
              <a:rPr lang="en-US" sz="2000" dirty="0" smtClean="0"/>
              <a:t>A variety of books were used, reflecting a rich educational content. </a:t>
            </a:r>
            <a:endParaRPr lang="en-US" sz="2000" dirty="0"/>
          </a:p>
        </p:txBody>
      </p:sp>
      <p:sp>
        <p:nvSpPr>
          <p:cNvPr id="5" name="Rectangle 4"/>
          <p:cNvSpPr/>
          <p:nvPr/>
        </p:nvSpPr>
        <p:spPr>
          <a:xfrm>
            <a:off x="306758" y="3356992"/>
            <a:ext cx="10980049" cy="2400657"/>
          </a:xfrm>
          <a:prstGeom prst="rect">
            <a:avLst/>
          </a:prstGeom>
        </p:spPr>
        <p:txBody>
          <a:bodyPr wrap="square">
            <a:spAutoFit/>
          </a:bodyPr>
          <a:lstStyle/>
          <a:p>
            <a:r>
              <a:rPr lang="hi-IN" sz="2400" b="1" dirty="0" smtClean="0"/>
              <a:t>शिक्षणाची भाषा आणि</a:t>
            </a:r>
            <a:r>
              <a:rPr lang="en-US" sz="2400" b="1" dirty="0" smtClean="0"/>
              <a:t> </a:t>
            </a:r>
            <a:r>
              <a:rPr lang="hi-IN" sz="2400" b="1" dirty="0" smtClean="0"/>
              <a:t>आशय</a:t>
            </a:r>
          </a:p>
          <a:p>
            <a:endParaRPr lang="hi-IN" dirty="0" smtClean="0"/>
          </a:p>
          <a:p>
            <a:pPr marL="285750" indent="-285750">
              <a:buFont typeface="Arial" panose="020B0604020202020204" pitchFamily="34" charset="0"/>
              <a:buChar char="•"/>
            </a:pPr>
            <a:r>
              <a:rPr lang="hi-IN" dirty="0" smtClean="0"/>
              <a:t>सर्वेक्षणांनी शिक्षणाच्या भाषा आणि शिकवल्या जाणाऱ्या विषयांबद्दल अंतर्दृष्टी प्रदान केली, ज्यामध्ये तमिळ आणि तेलुगू शाळांचे प्राबल्य होते.</a:t>
            </a:r>
          </a:p>
          <a:p>
            <a:pPr marL="285750" indent="-285750">
              <a:buFont typeface="Arial" panose="020B0604020202020204" pitchFamily="34" charset="0"/>
              <a:buChar char="•"/>
            </a:pPr>
            <a:r>
              <a:rPr lang="hi-IN" dirty="0" smtClean="0"/>
              <a:t>अभ्यासक्रमात वाचन, लेखन, अंकगणित आणि विविध पारंपारिक ग्रंथांचा समावेश होता.</a:t>
            </a:r>
          </a:p>
          <a:p>
            <a:pPr marL="285750" indent="-285750">
              <a:buFont typeface="Arial" panose="020B0604020202020204" pitchFamily="34" charset="0"/>
              <a:buChar char="•"/>
            </a:pPr>
            <a:r>
              <a:rPr lang="hi-IN" dirty="0" smtClean="0"/>
              <a:t>शाळा प्रामुख्याने तमिळ आणि तेलुगूमध्ये शिकवल्या जात होत्या, काही फारसी आणि इंग्रजीमध्ये शिकवल्या जात होत्या.</a:t>
            </a:r>
          </a:p>
          <a:p>
            <a:pPr marL="285750" indent="-285750">
              <a:buFont typeface="Arial" panose="020B0604020202020204" pitchFamily="34" charset="0"/>
              <a:buChar char="•"/>
            </a:pPr>
            <a:r>
              <a:rPr lang="hi-IN" dirty="0" smtClean="0"/>
              <a:t>विविध पुस्तके वापरली जात होती, जी समृद्ध शैक्षणिक सामग्री प्रतिबिंबित करतात</a:t>
            </a:r>
            <a:endParaRPr lang="en-IN" dirty="0"/>
          </a:p>
        </p:txBody>
      </p:sp>
    </p:spTree>
    <p:extLst>
      <p:ext uri="{BB962C8B-B14F-4D97-AF65-F5344CB8AC3E}">
        <p14:creationId xmlns:p14="http://schemas.microsoft.com/office/powerpoint/2010/main" val="41863819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0134" y="2924944"/>
            <a:ext cx="11069680" cy="3231654"/>
          </a:xfrm>
          <a:prstGeom prst="rect">
            <a:avLst/>
          </a:prstGeom>
        </p:spPr>
        <p:txBody>
          <a:bodyPr wrap="square">
            <a:spAutoFit/>
          </a:bodyPr>
          <a:lstStyle/>
          <a:p>
            <a:r>
              <a:rPr lang="hi-IN" sz="2400" b="1" dirty="0" smtClean="0"/>
              <a:t>प्रवेशाचे वय आणि शालेय शिक्षणाचा कालावधी</a:t>
            </a:r>
          </a:p>
          <a:p>
            <a:endParaRPr lang="hi-IN" dirty="0" smtClean="0"/>
          </a:p>
          <a:p>
            <a:pPr marL="285750" indent="-285750">
              <a:buFont typeface="Arial" panose="020B0604020202020204" pitchFamily="34" charset="0"/>
              <a:buChar char="•"/>
            </a:pPr>
            <a:r>
              <a:rPr lang="hi-IN" dirty="0" smtClean="0"/>
              <a:t>विद्यार्थ्यांनी साधारणपणे पाच वर्षांच्या आसपास शाळा सुरू केली, जिल्ह्यांमध्ये अभ्यासाचा कालावधी वेगवेगळा होता.</a:t>
            </a:r>
          </a:p>
          <a:p>
            <a:pPr marL="285750" indent="-285750">
              <a:buFont typeface="Arial" panose="020B0604020202020204" pitchFamily="34" charset="0"/>
              <a:buChar char="•"/>
            </a:pPr>
            <a:r>
              <a:rPr lang="hi-IN" dirty="0" smtClean="0"/>
              <a:t>​शिक्षणाचा सरासरी कालावधी किमान पाच वर्षांपासून कमाल १५ वर्षांपर्यंत होता.</a:t>
            </a:r>
          </a:p>
          <a:p>
            <a:endParaRPr lang="hi-IN" dirty="0" smtClean="0"/>
          </a:p>
          <a:p>
            <a:pPr marL="285750" indent="-285750">
              <a:buFont typeface="Arial" panose="020B0604020202020204" pitchFamily="34" charset="0"/>
              <a:buChar char="•"/>
            </a:pPr>
            <a:r>
              <a:rPr lang="hi-IN" dirty="0" smtClean="0"/>
              <a:t>शाळेत प्रवेशासाठी नेहमीचे वय पाच वर्षे होते.</a:t>
            </a:r>
          </a:p>
          <a:p>
            <a:endParaRPr lang="hi-IN" dirty="0" smtClean="0"/>
          </a:p>
          <a:p>
            <a:pPr marL="285750" indent="-285750">
              <a:buFont typeface="Arial" panose="020B0604020202020204" pitchFamily="34" charset="0"/>
              <a:buChar char="•"/>
            </a:pPr>
            <a:r>
              <a:rPr lang="hi-IN" dirty="0" smtClean="0"/>
              <a:t>शाळेत शिक्षणाचा कालावधी वेगवेगळा होता, बहुतेक विद्यार्थी ५ ते १५ वर्षे उपस्थित राहतात.</a:t>
            </a:r>
          </a:p>
          <a:p>
            <a:pPr marL="285750" indent="-285750">
              <a:buFont typeface="Arial" panose="020B0604020202020204" pitchFamily="34" charset="0"/>
              <a:buChar char="•"/>
            </a:pPr>
            <a:endParaRPr lang="hi-IN" dirty="0" smtClean="0"/>
          </a:p>
          <a:p>
            <a:pPr marL="285750" indent="-285750">
              <a:buFont typeface="Arial" panose="020B0604020202020204" pitchFamily="34" charset="0"/>
              <a:buChar char="•"/>
            </a:pPr>
            <a:r>
              <a:rPr lang="hi-IN" dirty="0" smtClean="0"/>
              <a:t>काही संग्राहकांनी नोंदवले की विद्यार्थ्यांनी १३ वर्षांच्या वयापर्यंत लक्षणीय शिक्षण मिळवले</a:t>
            </a:r>
            <a:endParaRPr lang="en-IN" dirty="0"/>
          </a:p>
        </p:txBody>
      </p:sp>
      <p:sp>
        <p:nvSpPr>
          <p:cNvPr id="5" name="Rectangle 4"/>
          <p:cNvSpPr/>
          <p:nvPr/>
        </p:nvSpPr>
        <p:spPr>
          <a:xfrm>
            <a:off x="219693" y="164253"/>
            <a:ext cx="10716611" cy="2123658"/>
          </a:xfrm>
          <a:prstGeom prst="rect">
            <a:avLst/>
          </a:prstGeom>
        </p:spPr>
        <p:txBody>
          <a:bodyPr wrap="square">
            <a:spAutoFit/>
          </a:bodyPr>
          <a:lstStyle/>
          <a:p>
            <a:r>
              <a:rPr lang="en-US" sz="2400" b="1" dirty="0" smtClean="0"/>
              <a:t>Enrollment Age and Schooling Duration</a:t>
            </a:r>
          </a:p>
          <a:p>
            <a:endParaRPr lang="en-US" dirty="0" smtClean="0"/>
          </a:p>
          <a:p>
            <a:pPr marL="285750" indent="-285750">
              <a:buFont typeface="Arial" panose="020B0604020202020204" pitchFamily="34" charset="0"/>
              <a:buChar char="•"/>
            </a:pPr>
            <a:r>
              <a:rPr lang="en-US" dirty="0" smtClean="0"/>
              <a:t>Students typically began school around age five, with varying durations of study reported across districts. </a:t>
            </a:r>
          </a:p>
          <a:p>
            <a:pPr marL="285750" indent="-285750">
              <a:buFont typeface="Arial" panose="020B0604020202020204" pitchFamily="34" charset="0"/>
              <a:buChar char="•"/>
            </a:pPr>
            <a:r>
              <a:rPr lang="en-US" dirty="0" smtClean="0"/>
              <a:t>​The average period of education ranged from a minimum of five years to a maximum of 15 years. </a:t>
            </a:r>
          </a:p>
          <a:p>
            <a:pPr marL="285750" indent="-285750">
              <a:buFont typeface="Arial" panose="020B0604020202020204" pitchFamily="34" charset="0"/>
              <a:buChar char="•"/>
            </a:pPr>
            <a:r>
              <a:rPr lang="en-US" dirty="0" smtClean="0"/>
              <a:t>​The usual age for school admission was five years. </a:t>
            </a:r>
          </a:p>
          <a:p>
            <a:pPr marL="285750" indent="-285750">
              <a:buFont typeface="Arial" panose="020B0604020202020204" pitchFamily="34" charset="0"/>
              <a:buChar char="•"/>
            </a:pPr>
            <a:r>
              <a:rPr lang="en-US" dirty="0" smtClean="0"/>
              <a:t>Duration of schooling varied, with most students attending for 5 to 15 years.</a:t>
            </a:r>
          </a:p>
          <a:p>
            <a:pPr marL="285750" indent="-285750">
              <a:buFont typeface="Arial" panose="020B0604020202020204" pitchFamily="34" charset="0"/>
              <a:buChar char="•"/>
            </a:pPr>
            <a:r>
              <a:rPr lang="en-US" dirty="0" smtClean="0"/>
              <a:t>Some collectors noted that students achieved significant learning by age 13.</a:t>
            </a:r>
            <a:endParaRPr lang="en-IN" dirty="0"/>
          </a:p>
        </p:txBody>
      </p:sp>
    </p:spTree>
    <p:extLst>
      <p:ext uri="{BB962C8B-B14F-4D97-AF65-F5344CB8AC3E}">
        <p14:creationId xmlns:p14="http://schemas.microsoft.com/office/powerpoint/2010/main" val="27628024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6199" y="116632"/>
            <a:ext cx="11069680" cy="2123658"/>
          </a:xfrm>
          <a:prstGeom prst="rect">
            <a:avLst/>
          </a:prstGeom>
        </p:spPr>
        <p:txBody>
          <a:bodyPr wrap="square">
            <a:spAutoFit/>
          </a:bodyPr>
          <a:lstStyle/>
          <a:p>
            <a:r>
              <a:rPr lang="en-US" sz="2400" b="1" dirty="0" smtClean="0"/>
              <a:t>Private Education and Home Tutoring</a:t>
            </a:r>
          </a:p>
          <a:p>
            <a:endParaRPr lang="en-US" dirty="0" smtClean="0"/>
          </a:p>
          <a:p>
            <a:pPr marL="285750" indent="-285750">
              <a:buFont typeface="Arial" panose="020B0604020202020204" pitchFamily="34" charset="0"/>
              <a:buChar char="•"/>
            </a:pPr>
            <a:r>
              <a:rPr lang="en-US" dirty="0" smtClean="0"/>
              <a:t>A considerable number of students received education at home or through private tutors, often outnumbering those in formal schools. This trend was particularly notable in urban areas like Madras.</a:t>
            </a:r>
          </a:p>
          <a:p>
            <a:pPr marL="285750" indent="-285750">
              <a:buFont typeface="Arial" panose="020B0604020202020204" pitchFamily="34" charset="0"/>
              <a:buChar char="•"/>
            </a:pPr>
            <a:r>
              <a:rPr lang="en-US" dirty="0" smtClean="0"/>
              <a:t>In Madras, 26,963 students were reported to be receiving home education.</a:t>
            </a:r>
          </a:p>
          <a:p>
            <a:pPr marL="285750" indent="-285750">
              <a:buFont typeface="Arial" panose="020B0604020202020204" pitchFamily="34" charset="0"/>
              <a:buChar char="•"/>
            </a:pPr>
            <a:r>
              <a:rPr lang="en-US" dirty="0" smtClean="0"/>
              <a:t>Private education was prevalent, especially among Brahmins and </a:t>
            </a:r>
            <a:r>
              <a:rPr lang="en-US" dirty="0" err="1" smtClean="0"/>
              <a:t>Soodras</a:t>
            </a:r>
            <a:r>
              <a:rPr lang="en-US" dirty="0" smtClean="0"/>
              <a:t>.</a:t>
            </a:r>
          </a:p>
          <a:p>
            <a:pPr marL="285750" indent="-285750">
              <a:buFont typeface="Arial" panose="020B0604020202020204" pitchFamily="34" charset="0"/>
              <a:buChar char="•"/>
            </a:pPr>
            <a:r>
              <a:rPr lang="en-US" dirty="0" smtClean="0"/>
              <a:t>​The number of privately educated students may have been several times higher than those in schools. </a:t>
            </a:r>
            <a:endParaRPr lang="en-US" dirty="0"/>
          </a:p>
        </p:txBody>
      </p:sp>
      <p:sp>
        <p:nvSpPr>
          <p:cNvPr id="5" name="Rectangle 4"/>
          <p:cNvSpPr/>
          <p:nvPr/>
        </p:nvSpPr>
        <p:spPr>
          <a:xfrm>
            <a:off x="226199" y="2996954"/>
            <a:ext cx="11069680" cy="3508653"/>
          </a:xfrm>
          <a:prstGeom prst="rect">
            <a:avLst/>
          </a:prstGeom>
        </p:spPr>
        <p:txBody>
          <a:bodyPr wrap="square">
            <a:spAutoFit/>
          </a:bodyPr>
          <a:lstStyle/>
          <a:p>
            <a:r>
              <a:rPr lang="hi-IN" sz="2400" b="1" dirty="0" smtClean="0"/>
              <a:t>खाजगी शिक्षण आणि गृहशिक्षण</a:t>
            </a:r>
          </a:p>
          <a:p>
            <a:endParaRPr lang="hi-IN" dirty="0" smtClean="0"/>
          </a:p>
          <a:p>
            <a:pPr marL="285750" indent="-285750" algn="just">
              <a:buFont typeface="Arial" panose="020B0604020202020204" pitchFamily="34" charset="0"/>
              <a:buChar char="•"/>
            </a:pPr>
            <a:r>
              <a:rPr lang="hi-IN" dirty="0" smtClean="0"/>
              <a:t>घरी किंवा खाजगी शिक्षकांकडून शिक्षण घेणाऱ्या विद्यार्थ्यांची संख्या बरीच होती, बहुतेकदा औपचारिक शाळांमध्ये शिक्षण घेणाऱ्या विद्यार्थ्यांपेक्षा ही संख्या जास्त होती. मद्राससारख्या शहरी भागात ही प्रवृत्ती विशेषतः लक्षणीय होती.</a:t>
            </a:r>
          </a:p>
          <a:p>
            <a:pPr marL="285750" indent="-285750" algn="just">
              <a:buFont typeface="Arial" panose="020B0604020202020204" pitchFamily="34" charset="0"/>
              <a:buChar char="•"/>
            </a:pPr>
            <a:endParaRPr lang="hi-IN" dirty="0" smtClean="0"/>
          </a:p>
          <a:p>
            <a:pPr marL="285750" indent="-285750" algn="just">
              <a:buFont typeface="Arial" panose="020B0604020202020204" pitchFamily="34" charset="0"/>
              <a:buChar char="•"/>
            </a:pPr>
            <a:r>
              <a:rPr lang="hi-IN" dirty="0" smtClean="0"/>
              <a:t>मद्रासमध्ये, २६,९६३ विद्यार्थी गृहशिक्षण घेत असल्याचे नोंदवले गेले आहे.</a:t>
            </a:r>
          </a:p>
          <a:p>
            <a:pPr marL="285750" indent="-285750" algn="just">
              <a:buFont typeface="Arial" panose="020B0604020202020204" pitchFamily="34" charset="0"/>
              <a:buChar char="•"/>
            </a:pPr>
            <a:endParaRPr lang="hi-IN" dirty="0" smtClean="0"/>
          </a:p>
          <a:p>
            <a:pPr marL="285750" indent="-285750" algn="just">
              <a:buFont typeface="Arial" panose="020B0604020202020204" pitchFamily="34" charset="0"/>
              <a:buChar char="•"/>
            </a:pPr>
            <a:r>
              <a:rPr lang="hi-IN" dirty="0" smtClean="0"/>
              <a:t>खाजगी शिक्षण प्रचलित होते, विशेषतः ब्राह्मण आणि शूद्रांमध्ये.</a:t>
            </a:r>
          </a:p>
          <a:p>
            <a:pPr marL="285750" indent="-285750" algn="just">
              <a:buFont typeface="Arial" panose="020B0604020202020204" pitchFamily="34" charset="0"/>
              <a:buChar char="•"/>
            </a:pPr>
            <a:endParaRPr lang="hi-IN" dirty="0" smtClean="0"/>
          </a:p>
          <a:p>
            <a:pPr marL="285750" indent="-285750" algn="just">
              <a:buFont typeface="Arial" panose="020B0604020202020204" pitchFamily="34" charset="0"/>
              <a:buChar char="•"/>
            </a:pPr>
            <a:r>
              <a:rPr lang="hi-IN" dirty="0" smtClean="0"/>
              <a:t>​खाजगी शिक्षण घेणाऱ्या विद्यार्थ्यांची संख्या शाळांमध्ये शिक्षण घेणाऱ्या विद्यार्थ्यांपेक्षा कित्येक पटीने जास्त असू शकते</a:t>
            </a:r>
            <a:endParaRPr lang="en-IN" dirty="0"/>
          </a:p>
        </p:txBody>
      </p:sp>
    </p:spTree>
    <p:extLst>
      <p:ext uri="{BB962C8B-B14F-4D97-AF65-F5344CB8AC3E}">
        <p14:creationId xmlns:p14="http://schemas.microsoft.com/office/powerpoint/2010/main" val="21324788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6198" y="116634"/>
            <a:ext cx="10797475" cy="2400657"/>
          </a:xfrm>
          <a:prstGeom prst="rect">
            <a:avLst/>
          </a:prstGeom>
        </p:spPr>
        <p:txBody>
          <a:bodyPr wrap="square">
            <a:spAutoFit/>
          </a:bodyPr>
          <a:lstStyle/>
          <a:p>
            <a:r>
              <a:rPr lang="en-US" sz="2400" b="1" dirty="0" smtClean="0"/>
              <a:t>Gender Disparities in Education</a:t>
            </a:r>
          </a:p>
          <a:p>
            <a:endParaRPr lang="en-US" dirty="0"/>
          </a:p>
          <a:p>
            <a:pPr marL="285750" indent="-285750">
              <a:buFont typeface="Arial" panose="020B0604020202020204" pitchFamily="34" charset="0"/>
              <a:buChar char="•"/>
            </a:pPr>
            <a:r>
              <a:rPr lang="en-US" dirty="0" smtClean="0"/>
              <a:t>The number of girls receiving formal education was minimal, with most attending school from lower castes or as dancing girls. </a:t>
            </a:r>
          </a:p>
          <a:p>
            <a:pPr marL="285750" indent="-285750">
              <a:buFont typeface="Arial" panose="020B0604020202020204" pitchFamily="34" charset="0"/>
              <a:buChar char="•"/>
            </a:pPr>
            <a:r>
              <a:rPr lang="en-US" dirty="0" smtClean="0"/>
              <a:t>​However, some districts like Malabar showed higher proportions of girls in education. </a:t>
            </a:r>
          </a:p>
          <a:p>
            <a:pPr marL="285750" indent="-285750">
              <a:buFont typeface="Arial" panose="020B0604020202020204" pitchFamily="34" charset="0"/>
              <a:buChar char="•"/>
            </a:pPr>
            <a:r>
              <a:rPr lang="en-US" dirty="0" smtClean="0"/>
              <a:t>Overall, girls constituted a small percentage of school attendees. </a:t>
            </a:r>
          </a:p>
          <a:p>
            <a:pPr marL="285750" indent="-285750">
              <a:buFont typeface="Arial" panose="020B0604020202020204" pitchFamily="34" charset="0"/>
              <a:buChar char="•"/>
            </a:pPr>
            <a:r>
              <a:rPr lang="en-US" dirty="0" smtClean="0"/>
              <a:t>In Malabar and </a:t>
            </a:r>
            <a:r>
              <a:rPr lang="en-US" dirty="0" err="1" smtClean="0"/>
              <a:t>Jeypoor</a:t>
            </a:r>
            <a:r>
              <a:rPr lang="en-US" dirty="0" smtClean="0"/>
              <a:t>, the proportion of girls attending school was notably higher.</a:t>
            </a:r>
          </a:p>
          <a:p>
            <a:pPr marL="285750" indent="-285750">
              <a:buFont typeface="Arial" panose="020B0604020202020204" pitchFamily="34" charset="0"/>
              <a:buChar char="•"/>
            </a:pPr>
            <a:r>
              <a:rPr lang="en-US" dirty="0" smtClean="0"/>
              <a:t>The majority of educated girls came from lower castes or were training as </a:t>
            </a:r>
            <a:r>
              <a:rPr lang="en-US" dirty="0" err="1" smtClean="0"/>
              <a:t>devdasis</a:t>
            </a:r>
            <a:r>
              <a:rPr lang="en-US" dirty="0" smtClean="0"/>
              <a:t>.</a:t>
            </a:r>
            <a:endParaRPr lang="en-IN" dirty="0"/>
          </a:p>
        </p:txBody>
      </p:sp>
      <p:sp>
        <p:nvSpPr>
          <p:cNvPr id="5" name="Rectangle 4"/>
          <p:cNvSpPr/>
          <p:nvPr/>
        </p:nvSpPr>
        <p:spPr>
          <a:xfrm>
            <a:off x="233808" y="2924945"/>
            <a:ext cx="10978944" cy="3508653"/>
          </a:xfrm>
          <a:prstGeom prst="rect">
            <a:avLst/>
          </a:prstGeom>
        </p:spPr>
        <p:txBody>
          <a:bodyPr wrap="square">
            <a:spAutoFit/>
          </a:bodyPr>
          <a:lstStyle/>
          <a:p>
            <a:r>
              <a:rPr lang="hi-IN" sz="2400" b="1" dirty="0" smtClean="0"/>
              <a:t>शिक्षणातील लिंगभेद</a:t>
            </a:r>
          </a:p>
          <a:p>
            <a:endParaRPr lang="hi-IN" dirty="0" smtClean="0"/>
          </a:p>
          <a:p>
            <a:pPr marL="285750" indent="-285750">
              <a:buFont typeface="Arial" panose="020B0604020202020204" pitchFamily="34" charset="0"/>
              <a:buChar char="•"/>
            </a:pPr>
            <a:r>
              <a:rPr lang="hi-IN" dirty="0" smtClean="0"/>
              <a:t>औपचारिक शिक्षण घेणाऱ्या मुलींची संख्या कमी होती, त्यापैकी बहुतेक खालच्या जातीतील किंवा नृत्य करणाऱ्या मुली म्हणून शाळेत जात होत्या.</a:t>
            </a:r>
          </a:p>
          <a:p>
            <a:pPr marL="285750" indent="-285750">
              <a:buFont typeface="Arial" panose="020B0604020202020204" pitchFamily="34" charset="0"/>
              <a:buChar char="•"/>
            </a:pPr>
            <a:endParaRPr lang="hi-IN" dirty="0" smtClean="0"/>
          </a:p>
          <a:p>
            <a:pPr marL="285750" indent="-285750">
              <a:buFont typeface="Arial" panose="020B0604020202020204" pitchFamily="34" charset="0"/>
              <a:buChar char="•"/>
            </a:pPr>
            <a:r>
              <a:rPr lang="hi-IN" dirty="0" smtClean="0"/>
              <a:t>तथापि, मलबारसारख्या काही जिल्ह्यांमध्ये शिक्षणात मुलींचे प्रमाण जास्त होते.</a:t>
            </a:r>
          </a:p>
          <a:p>
            <a:pPr marL="285750" indent="-285750">
              <a:buFont typeface="Arial" panose="020B0604020202020204" pitchFamily="34" charset="0"/>
              <a:buChar char="•"/>
            </a:pPr>
            <a:endParaRPr lang="hi-IN" dirty="0" smtClean="0"/>
          </a:p>
          <a:p>
            <a:pPr marL="285750" indent="-285750">
              <a:buFont typeface="Arial" panose="020B0604020202020204" pitchFamily="34" charset="0"/>
              <a:buChar char="•"/>
            </a:pPr>
            <a:r>
              <a:rPr lang="hi-IN" dirty="0" smtClean="0"/>
              <a:t>एकूणच, शाळेतील उपस्थितांमध्ये मुलींचे प्रमाण कमी होते.</a:t>
            </a:r>
          </a:p>
          <a:p>
            <a:pPr marL="285750" indent="-285750">
              <a:buFont typeface="Arial" panose="020B0604020202020204" pitchFamily="34" charset="0"/>
              <a:buChar char="•"/>
            </a:pPr>
            <a:endParaRPr lang="hi-IN" dirty="0" smtClean="0"/>
          </a:p>
          <a:p>
            <a:pPr marL="285750" indent="-285750">
              <a:buFont typeface="Arial" panose="020B0604020202020204" pitchFamily="34" charset="0"/>
              <a:buChar char="•"/>
            </a:pPr>
            <a:r>
              <a:rPr lang="hi-IN" dirty="0" smtClean="0"/>
              <a:t>मलबार आणि जेपूरमध्ये, शाळेत जाणाऱ्या मुलींचे प्रमाण लक्षणीयरीत्या जास्त होते.</a:t>
            </a:r>
          </a:p>
          <a:p>
            <a:pPr marL="285750" indent="-285750">
              <a:buFont typeface="Arial" panose="020B0604020202020204" pitchFamily="34" charset="0"/>
              <a:buChar char="•"/>
            </a:pPr>
            <a:r>
              <a:rPr lang="hi-IN" dirty="0" smtClean="0"/>
              <a:t>​</a:t>
            </a:r>
          </a:p>
          <a:p>
            <a:pPr marL="285750" indent="-285750">
              <a:buFont typeface="Arial" panose="020B0604020202020204" pitchFamily="34" charset="0"/>
              <a:buChar char="•"/>
            </a:pPr>
            <a:r>
              <a:rPr lang="hi-IN" dirty="0" smtClean="0"/>
              <a:t>बहुतेक शिक्षित मुली खालच्या जातीतील होत्या किंवा देवदासी म्हणून प्रशिक्षण घेत होत्या.</a:t>
            </a:r>
            <a:endParaRPr lang="en-IN" dirty="0"/>
          </a:p>
        </p:txBody>
      </p:sp>
    </p:spTree>
    <p:extLst>
      <p:ext uri="{BB962C8B-B14F-4D97-AF65-F5344CB8AC3E}">
        <p14:creationId xmlns:p14="http://schemas.microsoft.com/office/powerpoint/2010/main" val="988941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6933" y="260648"/>
            <a:ext cx="10706739" cy="2123658"/>
          </a:xfrm>
          <a:prstGeom prst="rect">
            <a:avLst/>
          </a:prstGeom>
        </p:spPr>
        <p:txBody>
          <a:bodyPr wrap="square">
            <a:spAutoFit/>
          </a:bodyPr>
          <a:lstStyle/>
          <a:p>
            <a:r>
              <a:rPr lang="hi-IN" sz="2400" b="1" dirty="0" smtClean="0"/>
              <a:t>संत जनाबाई (दासी),संत कान्होपात्रा (गणीका), संत सोयराबाई (महार समाज) </a:t>
            </a:r>
            <a:endParaRPr lang="en-US" sz="2400" b="1" dirty="0" smtClean="0"/>
          </a:p>
          <a:p>
            <a:endParaRPr lang="en-US" dirty="0"/>
          </a:p>
          <a:p>
            <a:r>
              <a:rPr lang="hi-IN" dirty="0" smtClean="0"/>
              <a:t>अशा अनेक महिला संतांनी अत्यंत उच्च कोटीचे तत्वज्ञान असलेले अभंग रचले.</a:t>
            </a:r>
            <a:endParaRPr lang="en-US" dirty="0" smtClean="0"/>
          </a:p>
          <a:p>
            <a:r>
              <a:rPr lang="hi-IN" dirty="0" smtClean="0"/>
              <a:t>(यात छंदोभंग, मुक्त काव्य,ट ला ट व प ला प असले अभंग नाही) </a:t>
            </a:r>
            <a:endParaRPr lang="en-US" dirty="0" smtClean="0"/>
          </a:p>
          <a:p>
            <a:endParaRPr lang="en-US" dirty="0"/>
          </a:p>
          <a:p>
            <a:r>
              <a:rPr lang="hi-IN" dirty="0" smtClean="0"/>
              <a:t>आजही   उच्च पदवीवर असलेले अनेक लोक या अभंगांतील तत्वज्ञान आम्हाला कळत नाही एवढे आहे असे नम्रपणे सांगतात .</a:t>
            </a:r>
            <a:endParaRPr lang="en-IN" dirty="0"/>
          </a:p>
        </p:txBody>
      </p:sp>
      <p:sp>
        <p:nvSpPr>
          <p:cNvPr id="5" name="Rectangle 4"/>
          <p:cNvSpPr/>
          <p:nvPr/>
        </p:nvSpPr>
        <p:spPr>
          <a:xfrm>
            <a:off x="316933" y="2996952"/>
            <a:ext cx="10888210" cy="1292662"/>
          </a:xfrm>
          <a:prstGeom prst="rect">
            <a:avLst/>
          </a:prstGeom>
        </p:spPr>
        <p:txBody>
          <a:bodyPr wrap="square">
            <a:spAutoFit/>
          </a:bodyPr>
          <a:lstStyle/>
          <a:p>
            <a:r>
              <a:rPr lang="hi-IN" sz="2400" b="1" dirty="0" smtClean="0"/>
              <a:t>जिजाऊ सरकार, ताराराणी सरकार, पुण्यश्लोक अहिल्यादेवी होळकर</a:t>
            </a:r>
            <a:r>
              <a:rPr lang="en-US" sz="2400" b="1" dirty="0" smtClean="0"/>
              <a:t>, </a:t>
            </a:r>
          </a:p>
          <a:p>
            <a:endParaRPr lang="en-US" dirty="0"/>
          </a:p>
          <a:p>
            <a:r>
              <a:rPr lang="hi-IN" dirty="0" smtClean="0"/>
              <a:t>अशा अनेक महिलांनी रणधुरंधर पणे राज्यकारभार सांभाळला ( राज्य सांभाळणे म्हणजे महसुल,शेतसारा, युद्ध, कारभार, योजना सर्व येत) या सर्व जणी सुशिक्षित होत्या यांचा काळ पहा</a:t>
            </a:r>
            <a:endParaRPr lang="en-IN" dirty="0"/>
          </a:p>
        </p:txBody>
      </p:sp>
    </p:spTree>
    <p:extLst>
      <p:ext uri="{BB962C8B-B14F-4D97-AF65-F5344CB8AC3E}">
        <p14:creationId xmlns:p14="http://schemas.microsoft.com/office/powerpoint/2010/main" val="15097720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4506" y="1484784"/>
            <a:ext cx="7704856" cy="5016758"/>
          </a:xfrm>
          <a:prstGeom prst="rect">
            <a:avLst/>
          </a:prstGeom>
        </p:spPr>
        <p:txBody>
          <a:bodyPr wrap="square">
            <a:spAutoFit/>
          </a:bodyPr>
          <a:lstStyle/>
          <a:p>
            <a:r>
              <a:rPr lang="hi-IN" sz="2000" dirty="0"/>
              <a:t>1792मध्ये इंग्रज आणि टिपू सुलतान यांच्यात लढाई झाली. तिसरे अँग्लो-म्हैसूर युद्ध म्हणून हे युद्ध इतिहासात प्रसिद्ध आहे. </a:t>
            </a:r>
            <a:endParaRPr lang="en-US" sz="2000" dirty="0" smtClean="0"/>
          </a:p>
          <a:p>
            <a:endParaRPr lang="en-US" sz="2000" dirty="0"/>
          </a:p>
          <a:p>
            <a:r>
              <a:rPr lang="hi-IN" sz="2000" dirty="0" smtClean="0"/>
              <a:t>कावसजी </a:t>
            </a:r>
            <a:r>
              <a:rPr lang="hi-IN" sz="2000" dirty="0"/>
              <a:t>नावाचा एक मराठा शेतकरी बैलगाडीवान म्हणून इंग्रजांच्या बाजूने काम करत होता. हे काम करत असताना टिपू सुलतान यांच्या सैनिकांनी त्याला पकडून कैद केलं होतं. त्यानंतर त्याचा तुरुंगात छळ करण्यात आला होता. कैदेत असताना शिक्षा म्हणून त्याचं नाक कापण्यात आलं होतं. </a:t>
            </a:r>
            <a:endParaRPr lang="en-US" sz="2000" dirty="0" smtClean="0"/>
          </a:p>
          <a:p>
            <a:endParaRPr lang="en-US" sz="2000" dirty="0"/>
          </a:p>
          <a:p>
            <a:r>
              <a:rPr lang="hi-IN" sz="2000" dirty="0" smtClean="0"/>
              <a:t>तब्बल </a:t>
            </a:r>
            <a:r>
              <a:rPr lang="hi-IN" sz="2000" dirty="0"/>
              <a:t>12 महिने तो बिन नाकाचा होता. त्यानंतर कावसजीने संधी मिळताच तुरुंगातून पलायन करून पुणे गाठले होते.</a:t>
            </a:r>
            <a:r>
              <a:rPr lang="en-US" sz="2000" dirty="0" smtClean="0"/>
              <a:t>.</a:t>
            </a:r>
          </a:p>
          <a:p>
            <a:endParaRPr lang="en-US" sz="2000" dirty="0" smtClean="0"/>
          </a:p>
          <a:p>
            <a:r>
              <a:rPr lang="hi-IN" sz="2000" dirty="0"/>
              <a:t>पुण्यात आल्यावर 1793मध्ये कावसजीने पुण्यातील एका कुंभाराला गाठले होते. या कुंभाराचा विटा बनवण्याचा व्यवसाय होता. त्याबरोबर तो रुग्णांवर उपचारही करत असे. याच ‘शल्यचिकित्सक’ कुंभाराने (</a:t>
            </a:r>
            <a:r>
              <a:rPr lang="en-IN" sz="2000" dirty="0"/>
              <a:t>Mahratta Surgeon Kumar) </a:t>
            </a:r>
            <a:r>
              <a:rPr lang="hi-IN" sz="2000" dirty="0"/>
              <a:t>कावसजीवर शस्रक्रिया करून नवीन नाक बसवले</a:t>
            </a:r>
            <a:r>
              <a:rPr lang="en-US" sz="2000" dirty="0" smtClean="0"/>
              <a:t>.</a:t>
            </a: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76278" y="1988840"/>
            <a:ext cx="3168352"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234693" y="764704"/>
            <a:ext cx="11009937" cy="584775"/>
          </a:xfrm>
          <a:prstGeom prst="rect">
            <a:avLst/>
          </a:prstGeom>
        </p:spPr>
        <p:txBody>
          <a:bodyPr wrap="none">
            <a:spAutoFit/>
          </a:bodyPr>
          <a:lstStyle/>
          <a:p>
            <a:r>
              <a:rPr lang="en-IN" sz="3200" b="1" dirty="0" smtClean="0">
                <a:solidFill>
                  <a:srgbClr val="0070C0"/>
                </a:solidFill>
              </a:rPr>
              <a:t>Rhinoplasty</a:t>
            </a:r>
            <a:r>
              <a:rPr lang="en-IN" sz="3200" dirty="0" smtClean="0"/>
              <a:t> </a:t>
            </a:r>
            <a:r>
              <a:rPr lang="hi-IN" sz="3200" dirty="0" smtClean="0"/>
              <a:t>म्हणजेच कृत्रिम नाक बसवण्याची ही शस्त्रक्रिया होय.</a:t>
            </a:r>
            <a:endParaRPr lang="en-IN" sz="3200" b="1" dirty="0">
              <a:solidFill>
                <a:schemeClr val="tx2">
                  <a:lumMod val="60000"/>
                  <a:lumOff val="40000"/>
                </a:schemeClr>
              </a:solidFill>
            </a:endParaRPr>
          </a:p>
        </p:txBody>
      </p:sp>
      <p:sp>
        <p:nvSpPr>
          <p:cNvPr id="6" name="Rectangle 5"/>
          <p:cNvSpPr/>
          <p:nvPr/>
        </p:nvSpPr>
        <p:spPr>
          <a:xfrm>
            <a:off x="208324" y="179348"/>
            <a:ext cx="11008498" cy="369332"/>
          </a:xfrm>
          <a:prstGeom prst="rect">
            <a:avLst/>
          </a:prstGeom>
        </p:spPr>
        <p:txBody>
          <a:bodyPr wrap="square">
            <a:spAutoFit/>
          </a:bodyPr>
          <a:lstStyle/>
          <a:p>
            <a:pPr algn="ctr"/>
            <a:r>
              <a:rPr lang="hi-IN" b="1" dirty="0" smtClean="0">
                <a:solidFill>
                  <a:srgbClr val="FF0000"/>
                </a:solidFill>
              </a:rPr>
              <a:t>वैद्यकशास्त्र आणि शल्य चिकित्सा पाश्चिमात्यांचे  देणं आहे. भारत जडीबुटी वाल्यांचा देश</a:t>
            </a:r>
            <a:endParaRPr lang="en-IN" b="1" dirty="0">
              <a:solidFill>
                <a:srgbClr val="FF0000"/>
              </a:solidFill>
            </a:endParaRPr>
          </a:p>
        </p:txBody>
      </p:sp>
    </p:spTree>
    <p:extLst>
      <p:ext uri="{BB962C8B-B14F-4D97-AF65-F5344CB8AC3E}">
        <p14:creationId xmlns:p14="http://schemas.microsoft.com/office/powerpoint/2010/main" val="3165739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70527" y="476672"/>
            <a:ext cx="8208912" cy="3046988"/>
          </a:xfrm>
          <a:prstGeom prst="rect">
            <a:avLst/>
          </a:prstGeom>
        </p:spPr>
        <p:txBody>
          <a:bodyPr wrap="square">
            <a:spAutoFit/>
          </a:bodyPr>
          <a:lstStyle/>
          <a:p>
            <a:pPr algn="ctr"/>
            <a:r>
              <a:rPr lang="hi-IN" sz="2400" dirty="0" smtClean="0"/>
              <a:t>त्याकाळी </a:t>
            </a:r>
            <a:r>
              <a:rPr lang="hi-IN" sz="2400" dirty="0"/>
              <a:t>भारतात ही शस्त्रक्रिया काही नवीन </a:t>
            </a:r>
            <a:r>
              <a:rPr lang="hi-IN" sz="2400" dirty="0" smtClean="0"/>
              <a:t>नव्हती. </a:t>
            </a:r>
            <a:endParaRPr lang="en-US" sz="2400" dirty="0" smtClean="0"/>
          </a:p>
          <a:p>
            <a:pPr algn="ctr"/>
            <a:r>
              <a:rPr lang="hi-IN" sz="2400" dirty="0" smtClean="0"/>
              <a:t>फार </a:t>
            </a:r>
            <a:r>
              <a:rPr lang="hi-IN" sz="2400" dirty="0"/>
              <a:t>प्राचीन काळापासून अशी शस्त्रक्रिया चालत आली असल्याची नोंद बॅाम्बे </a:t>
            </a:r>
            <a:r>
              <a:rPr lang="hi-IN" sz="2400" dirty="0" smtClean="0"/>
              <a:t>प्रेसिडन्सितले</a:t>
            </a:r>
            <a:r>
              <a:rPr lang="en-US" sz="2400" dirty="0" smtClean="0"/>
              <a:t>  </a:t>
            </a:r>
            <a:r>
              <a:rPr lang="hi-IN" sz="2400" dirty="0" smtClean="0"/>
              <a:t>दोन </a:t>
            </a:r>
            <a:r>
              <a:rPr lang="hi-IN" sz="2400" dirty="0"/>
              <a:t>ब्रिटीश डॉक्टर्स थॉमस क्रुसो (</a:t>
            </a:r>
            <a:r>
              <a:rPr lang="en-IN" sz="2400" dirty="0"/>
              <a:t>Thomas </a:t>
            </a:r>
            <a:r>
              <a:rPr lang="en-IN" sz="2400" dirty="0" err="1"/>
              <a:t>Cruso</a:t>
            </a:r>
            <a:r>
              <a:rPr lang="en-IN" sz="2400" dirty="0"/>
              <a:t>) </a:t>
            </a:r>
            <a:r>
              <a:rPr lang="hi-IN" sz="2400" dirty="0"/>
              <a:t>आणि जेम्स फिन्डले (</a:t>
            </a:r>
            <a:r>
              <a:rPr lang="en-IN" sz="2400" dirty="0"/>
              <a:t>James Findlay ) </a:t>
            </a:r>
            <a:r>
              <a:rPr lang="hi-IN" sz="2400" dirty="0"/>
              <a:t>यांनी करून ठेवली आहे. </a:t>
            </a:r>
            <a:endParaRPr lang="en-US" sz="2400" dirty="0" smtClean="0"/>
          </a:p>
          <a:p>
            <a:pPr algn="ctr"/>
            <a:r>
              <a:rPr lang="hi-IN" sz="2400" dirty="0" smtClean="0"/>
              <a:t>त्यांच्या </a:t>
            </a:r>
            <a:r>
              <a:rPr lang="hi-IN" sz="2400" dirty="0"/>
              <a:t>माहितीच्या आधारेच १७९४ साली ‘द जन्टलमन्स मॅग्झिन’ मध्ये “</a:t>
            </a:r>
            <a:r>
              <a:rPr lang="en-IN" sz="2400" dirty="0"/>
              <a:t>Chirurgical Operation” </a:t>
            </a:r>
            <a:r>
              <a:rPr lang="hi-IN" sz="2400" dirty="0"/>
              <a:t>या नावानेकावसजीच्या फोटोसह या माहितीचा लेख प्रसिद्ध झाला होता.</a:t>
            </a:r>
            <a:endParaRPr lang="en-US" sz="2400" dirty="0"/>
          </a:p>
        </p:txBody>
      </p:sp>
    </p:spTree>
    <p:extLst>
      <p:ext uri="{BB962C8B-B14F-4D97-AF65-F5344CB8AC3E}">
        <p14:creationId xmlns:p14="http://schemas.microsoft.com/office/powerpoint/2010/main" val="7359595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88" y="1213421"/>
            <a:ext cx="4015843" cy="369332"/>
          </a:xfrm>
          <a:prstGeom prst="rect">
            <a:avLst/>
          </a:prstGeom>
        </p:spPr>
        <p:txBody>
          <a:bodyPr wrap="none">
            <a:spAutoFit/>
          </a:bodyPr>
          <a:lstStyle/>
          <a:p>
            <a:r>
              <a:rPr lang="hi-IN" b="1" dirty="0"/>
              <a:t>1)  वेगः निमित्तविशेषात कर्मणो जायते |</a:t>
            </a:r>
            <a:endParaRPr lang="en-IN" dirty="0"/>
          </a:p>
        </p:txBody>
      </p:sp>
      <p:sp>
        <p:nvSpPr>
          <p:cNvPr id="6" name="Rectangle 5"/>
          <p:cNvSpPr/>
          <p:nvPr/>
        </p:nvSpPr>
        <p:spPr>
          <a:xfrm>
            <a:off x="199223" y="1582753"/>
            <a:ext cx="3974772" cy="646331"/>
          </a:xfrm>
          <a:prstGeom prst="rect">
            <a:avLst/>
          </a:prstGeom>
        </p:spPr>
        <p:txBody>
          <a:bodyPr wrap="square">
            <a:spAutoFit/>
          </a:bodyPr>
          <a:lstStyle/>
          <a:p>
            <a:r>
              <a:rPr lang="en-US" dirty="0"/>
              <a:t>Change of motion is due to impressed force.</a:t>
            </a:r>
            <a:endParaRPr lang="en-IN" dirty="0"/>
          </a:p>
        </p:txBody>
      </p:sp>
      <p:sp>
        <p:nvSpPr>
          <p:cNvPr id="7" name="Rectangle 6"/>
          <p:cNvSpPr/>
          <p:nvPr/>
        </p:nvSpPr>
        <p:spPr>
          <a:xfrm>
            <a:off x="199223" y="3006131"/>
            <a:ext cx="4769726" cy="646331"/>
          </a:xfrm>
          <a:prstGeom prst="rect">
            <a:avLst/>
          </a:prstGeom>
        </p:spPr>
        <p:txBody>
          <a:bodyPr wrap="square">
            <a:spAutoFit/>
          </a:bodyPr>
          <a:lstStyle/>
          <a:p>
            <a:r>
              <a:rPr lang="hi-IN" b="1" dirty="0"/>
              <a:t>2)</a:t>
            </a:r>
            <a:r>
              <a:rPr lang="hi-IN" dirty="0"/>
              <a:t> </a:t>
            </a:r>
            <a:r>
              <a:rPr lang="hi-IN" b="1" dirty="0"/>
              <a:t>वेगः निमित्तापेक्षात कर्मणो जायते नियतदिक क्रियाप्रबन्धहेतु  | </a:t>
            </a:r>
            <a:endParaRPr lang="en-IN" dirty="0"/>
          </a:p>
        </p:txBody>
      </p:sp>
      <p:sp>
        <p:nvSpPr>
          <p:cNvPr id="8" name="Rectangle 7"/>
          <p:cNvSpPr/>
          <p:nvPr/>
        </p:nvSpPr>
        <p:spPr>
          <a:xfrm>
            <a:off x="192727" y="3725875"/>
            <a:ext cx="4410376" cy="923330"/>
          </a:xfrm>
          <a:prstGeom prst="rect">
            <a:avLst/>
          </a:prstGeom>
        </p:spPr>
        <p:txBody>
          <a:bodyPr wrap="square">
            <a:spAutoFit/>
          </a:bodyPr>
          <a:lstStyle/>
          <a:p>
            <a:r>
              <a:rPr lang="en-US" b="1" dirty="0"/>
              <a:t>Meaning : </a:t>
            </a:r>
            <a:r>
              <a:rPr lang="en-US" dirty="0"/>
              <a:t>Change of motion is proportional to the impressed force and is in the direction of the force.</a:t>
            </a:r>
            <a:endParaRPr lang="en-IN" dirty="0"/>
          </a:p>
        </p:txBody>
      </p:sp>
      <p:sp>
        <p:nvSpPr>
          <p:cNvPr id="9" name="Rectangle 8"/>
          <p:cNvSpPr/>
          <p:nvPr/>
        </p:nvSpPr>
        <p:spPr>
          <a:xfrm>
            <a:off x="274097" y="5373216"/>
            <a:ext cx="3102131" cy="369332"/>
          </a:xfrm>
          <a:prstGeom prst="rect">
            <a:avLst/>
          </a:prstGeom>
        </p:spPr>
        <p:txBody>
          <a:bodyPr wrap="none">
            <a:spAutoFit/>
          </a:bodyPr>
          <a:lstStyle/>
          <a:p>
            <a:r>
              <a:rPr lang="en-US" b="1" dirty="0" smtClean="0"/>
              <a:t>3) </a:t>
            </a:r>
            <a:r>
              <a:rPr lang="hi-IN" b="1" dirty="0" smtClean="0"/>
              <a:t>वेगः </a:t>
            </a:r>
            <a:r>
              <a:rPr lang="hi-IN" b="1" dirty="0"/>
              <a:t>संयोगविशेषविरोधी   |</a:t>
            </a:r>
            <a:endParaRPr lang="en-IN" dirty="0"/>
          </a:p>
        </p:txBody>
      </p:sp>
      <p:sp>
        <p:nvSpPr>
          <p:cNvPr id="10" name="Rectangle 9"/>
          <p:cNvSpPr/>
          <p:nvPr/>
        </p:nvSpPr>
        <p:spPr>
          <a:xfrm>
            <a:off x="149090" y="5992165"/>
            <a:ext cx="4454013" cy="646331"/>
          </a:xfrm>
          <a:prstGeom prst="rect">
            <a:avLst/>
          </a:prstGeom>
        </p:spPr>
        <p:txBody>
          <a:bodyPr wrap="square">
            <a:spAutoFit/>
          </a:bodyPr>
          <a:lstStyle/>
          <a:p>
            <a:r>
              <a:rPr lang="en-US" b="1" dirty="0"/>
              <a:t>Meaning : </a:t>
            </a:r>
            <a:r>
              <a:rPr lang="en-US" dirty="0"/>
              <a:t>Action and reaction are equal and opposite.</a:t>
            </a:r>
            <a:endParaRPr lang="en-IN"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2751" y="1048668"/>
            <a:ext cx="2286000"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2059" y="3276328"/>
            <a:ext cx="2479614"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5973" y="5213612"/>
            <a:ext cx="2192128" cy="1424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40636" y="899924"/>
            <a:ext cx="1800200" cy="201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p:cNvSpPr/>
          <p:nvPr/>
        </p:nvSpPr>
        <p:spPr>
          <a:xfrm>
            <a:off x="7436839" y="3006131"/>
            <a:ext cx="3807795" cy="1754326"/>
          </a:xfrm>
          <a:prstGeom prst="rect">
            <a:avLst/>
          </a:prstGeom>
        </p:spPr>
        <p:txBody>
          <a:bodyPr wrap="square">
            <a:spAutoFit/>
          </a:bodyPr>
          <a:lstStyle/>
          <a:p>
            <a:r>
              <a:rPr lang="en-IN" dirty="0" smtClean="0"/>
              <a:t>Before</a:t>
            </a:r>
            <a:r>
              <a:rPr lang="en-IN" dirty="0"/>
              <a:t> </a:t>
            </a:r>
            <a:r>
              <a:rPr lang="en-IN" b="1" dirty="0"/>
              <a:t>newton</a:t>
            </a:r>
            <a:r>
              <a:rPr lang="en-IN" dirty="0"/>
              <a:t> discovered </a:t>
            </a:r>
            <a:r>
              <a:rPr lang="en-IN" b="1" dirty="0"/>
              <a:t>laws of motion, </a:t>
            </a:r>
            <a:r>
              <a:rPr lang="en-IN" dirty="0"/>
              <a:t>Indian scientist and philosopher</a:t>
            </a:r>
            <a:r>
              <a:rPr lang="en-IN" b="1" dirty="0"/>
              <a:t> </a:t>
            </a:r>
            <a:r>
              <a:rPr lang="en-IN" b="1" dirty="0" err="1"/>
              <a:t>Kanada</a:t>
            </a:r>
            <a:r>
              <a:rPr lang="en-IN" dirty="0"/>
              <a:t> (Hindi : </a:t>
            </a:r>
            <a:r>
              <a:rPr lang="hi-IN" b="1" dirty="0"/>
              <a:t>कणाद</a:t>
            </a:r>
            <a:r>
              <a:rPr lang="hi-IN" dirty="0"/>
              <a:t>) </a:t>
            </a:r>
            <a:r>
              <a:rPr lang="en-IN" dirty="0"/>
              <a:t>had given </a:t>
            </a:r>
            <a:r>
              <a:rPr lang="en-IN" b="1" dirty="0" err="1"/>
              <a:t>Vaisheshika</a:t>
            </a:r>
            <a:r>
              <a:rPr lang="en-IN" b="1" dirty="0"/>
              <a:t> Sutra</a:t>
            </a:r>
            <a:r>
              <a:rPr lang="en-IN" dirty="0"/>
              <a:t> (in </a:t>
            </a:r>
            <a:r>
              <a:rPr lang="en-IN" b="1" dirty="0"/>
              <a:t>600 BCE</a:t>
            </a:r>
            <a:r>
              <a:rPr lang="en-IN" dirty="0"/>
              <a:t>) which describes relation between </a:t>
            </a:r>
            <a:r>
              <a:rPr lang="en-IN" dirty="0" err="1"/>
              <a:t>forcce</a:t>
            </a:r>
            <a:r>
              <a:rPr lang="en-IN" dirty="0"/>
              <a:t> and motion etc.</a:t>
            </a:r>
          </a:p>
        </p:txBody>
      </p:sp>
      <p:sp>
        <p:nvSpPr>
          <p:cNvPr id="16" name="Rectangle 15"/>
          <p:cNvSpPr/>
          <p:nvPr/>
        </p:nvSpPr>
        <p:spPr>
          <a:xfrm>
            <a:off x="1789226" y="208025"/>
            <a:ext cx="6807983" cy="369332"/>
          </a:xfrm>
          <a:prstGeom prst="rect">
            <a:avLst/>
          </a:prstGeom>
        </p:spPr>
        <p:txBody>
          <a:bodyPr wrap="square">
            <a:spAutoFit/>
          </a:bodyPr>
          <a:lstStyle/>
          <a:p>
            <a:r>
              <a:rPr lang="hi-IN" b="1" dirty="0" smtClean="0"/>
              <a:t>गणित, विज्ञान, कला या शास्त्रांचा विकास पाश्चिमात्य राष्ट्रात झाला</a:t>
            </a:r>
            <a:endParaRPr lang="en-IN" b="1" dirty="0"/>
          </a:p>
        </p:txBody>
      </p:sp>
    </p:spTree>
    <p:extLst>
      <p:ext uri="{BB962C8B-B14F-4D97-AF65-F5344CB8AC3E}">
        <p14:creationId xmlns:p14="http://schemas.microsoft.com/office/powerpoint/2010/main" val="451709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29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29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29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407" y="4365105"/>
            <a:ext cx="5414647" cy="1754326"/>
          </a:xfrm>
          <a:prstGeom prst="rect">
            <a:avLst/>
          </a:prstGeom>
        </p:spPr>
        <p:txBody>
          <a:bodyPr wrap="square">
            <a:spAutoFit/>
          </a:bodyPr>
          <a:lstStyle/>
          <a:p>
            <a:r>
              <a:rPr lang="hi-IN" dirty="0" smtClean="0"/>
              <a:t>मालवण </a:t>
            </a:r>
            <a:r>
              <a:rPr lang="hi-IN" dirty="0" smtClean="0"/>
              <a:t>सिंधुदुर्ग किल्ल्यावर अगदी भर समुद्रात गोड्या पाण्याच्या विहीरी आहेत.हा छ.शिवरायांनी बांधलेला किल्ला.आता समुद्रात बांधकाम करणे या करता सध्या प्रचंड मोठ्या यंत्रसामग्री आधुनिक तंत्रज्ञान वापरतात त्या काळात ही बांधकामे करणारे अडाणी अक्षरशुन्य होते का?आजही किल्ला ३०० वर्षांनंतर सुस्थितीत</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6183" y="240778"/>
            <a:ext cx="4718224" cy="2036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204350" y="201089"/>
            <a:ext cx="5761038" cy="1477328"/>
          </a:xfrm>
          <a:prstGeom prst="rect">
            <a:avLst/>
          </a:prstGeom>
        </p:spPr>
        <p:txBody>
          <a:bodyPr>
            <a:spAutoFit/>
          </a:bodyPr>
          <a:lstStyle/>
          <a:p>
            <a:r>
              <a:rPr lang="hi-IN" dirty="0" smtClean="0"/>
              <a:t>कोल्हापुरात अंबाबाई मंदिर आहे दरवर्षी दोन वेळा किरणोत्सव होतो मुर्तीं वर सूर्यकिरणे पडतात आता बरोबर अशी जागा निवडणे मुर्तीं ची उंची मंदिराची दिशा मंदिराची जडणघडण तशीच करणे या करता त्या कामगारांना खगोल ज्ञान ,भूमी परिक्षा यांचे ज्ञान होते. ते अडाणी होते का? </a:t>
            </a:r>
            <a:endParaRPr lang="en-IN" dirty="0"/>
          </a:p>
        </p:txBody>
      </p:sp>
      <p:sp>
        <p:nvSpPr>
          <p:cNvPr id="6" name="Rectangle 5"/>
          <p:cNvSpPr/>
          <p:nvPr/>
        </p:nvSpPr>
        <p:spPr>
          <a:xfrm>
            <a:off x="4944422" y="2564905"/>
            <a:ext cx="6541539" cy="923330"/>
          </a:xfrm>
          <a:prstGeom prst="rect">
            <a:avLst/>
          </a:prstGeom>
        </p:spPr>
        <p:txBody>
          <a:bodyPr wrap="square">
            <a:spAutoFit/>
          </a:bodyPr>
          <a:lstStyle/>
          <a:p>
            <a:r>
              <a:rPr lang="hi-IN" dirty="0" smtClean="0"/>
              <a:t>खिद्रापूर ला शिवमंदिरात मंडपाच्या मध्यभागी बरोबर शरद पौर्णिमेचा चंद्र मध्यभागी दिसतो असा मंडप उभारणे आजच्या तज्ञ इंजिनिअर लोकांना शक्य आहे का?</a:t>
            </a:r>
            <a:r>
              <a:rPr lang="en-US" dirty="0" smtClean="0"/>
              <a:t> </a:t>
            </a:r>
            <a:endParaRPr lang="en-IN"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3549" y="2244458"/>
            <a:ext cx="3383859"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5387" y="4274766"/>
            <a:ext cx="5047200" cy="2250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51820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9980" y="908722"/>
            <a:ext cx="11271844" cy="3754874"/>
          </a:xfrm>
          <a:prstGeom prst="rect">
            <a:avLst/>
          </a:prstGeom>
        </p:spPr>
        <p:txBody>
          <a:bodyPr wrap="square">
            <a:spAutoFit/>
          </a:bodyPr>
          <a:lstStyle/>
          <a:p>
            <a:r>
              <a:rPr lang="en-US" dirty="0" smtClean="0"/>
              <a:t>Modern physics and Vedic knowledge share intriguing parallels, despite originating from vastly different traditions. Here are some detailed similarities:</a:t>
            </a:r>
          </a:p>
          <a:p>
            <a:endParaRPr lang="en-US" dirty="0" smtClean="0"/>
          </a:p>
          <a:p>
            <a:r>
              <a:rPr lang="en-US" b="1" dirty="0" smtClean="0"/>
              <a:t>1. </a:t>
            </a:r>
            <a:r>
              <a:rPr lang="en-US" sz="2000" b="1" dirty="0" smtClean="0"/>
              <a:t>Unified Field &amp; Consciousness</a:t>
            </a:r>
          </a:p>
          <a:p>
            <a:pPr marL="285750" indent="-285750">
              <a:buFont typeface="Arial" panose="020B0604020202020204" pitchFamily="34" charset="0"/>
              <a:buChar char="•"/>
            </a:pPr>
            <a:r>
              <a:rPr lang="en-US" b="1" dirty="0" smtClean="0"/>
              <a:t>Modern Physics</a:t>
            </a:r>
            <a:r>
              <a:rPr lang="en-US" dirty="0" smtClean="0"/>
              <a:t>: The search for a unified field theory aims to explain all fundamental forces as manifestations of a single underlying reality.</a:t>
            </a:r>
          </a:p>
          <a:p>
            <a:pPr marL="285750" indent="-285750">
              <a:buFont typeface="Arial" panose="020B0604020202020204" pitchFamily="34" charset="0"/>
              <a:buChar char="•"/>
            </a:pPr>
            <a:r>
              <a:rPr lang="en-US" b="1" dirty="0"/>
              <a:t>Vedic</a:t>
            </a:r>
            <a:r>
              <a:rPr lang="en-US" dirty="0" smtClean="0"/>
              <a:t> </a:t>
            </a:r>
            <a:r>
              <a:rPr lang="en-US" b="1" dirty="0"/>
              <a:t>Knowledge</a:t>
            </a:r>
            <a:r>
              <a:rPr lang="en-US" dirty="0" smtClean="0"/>
              <a:t>: The concept of Brahman—the ultimate reality—suggests that everything in the universe is interconnected and emerges from a singular consciousness.</a:t>
            </a:r>
          </a:p>
          <a:p>
            <a:endParaRPr lang="en-US" dirty="0" smtClean="0"/>
          </a:p>
          <a:p>
            <a:r>
              <a:rPr lang="en-US" b="1" dirty="0" smtClean="0"/>
              <a:t>2. </a:t>
            </a:r>
            <a:r>
              <a:rPr lang="en-US" sz="2000" b="1" dirty="0"/>
              <a:t>Quantum Mechanics &amp; Vedic Philosophy</a:t>
            </a:r>
          </a:p>
          <a:p>
            <a:pPr marL="285750" indent="-285750">
              <a:buFont typeface="Arial" panose="020B0604020202020204" pitchFamily="34" charset="0"/>
              <a:buChar char="•"/>
            </a:pPr>
            <a:r>
              <a:rPr lang="en-US" b="1" dirty="0"/>
              <a:t>Wave-Particle</a:t>
            </a:r>
            <a:r>
              <a:rPr lang="en-US" dirty="0" smtClean="0"/>
              <a:t> </a:t>
            </a:r>
            <a:r>
              <a:rPr lang="en-US" b="1" dirty="0"/>
              <a:t>Duality</a:t>
            </a:r>
            <a:r>
              <a:rPr lang="en-US" dirty="0" smtClean="0"/>
              <a:t>: Quantum physics shows that particles can behave as both waves and discrete entities.</a:t>
            </a:r>
          </a:p>
          <a:p>
            <a:pPr marL="285750" indent="-285750">
              <a:buFont typeface="Arial" panose="020B0604020202020204" pitchFamily="34" charset="0"/>
              <a:buChar char="•"/>
            </a:pPr>
            <a:r>
              <a:rPr lang="en-US" b="1" dirty="0"/>
              <a:t>Vedic</a:t>
            </a:r>
            <a:r>
              <a:rPr lang="en-US" dirty="0" smtClean="0"/>
              <a:t> </a:t>
            </a:r>
            <a:r>
              <a:rPr lang="en-US" b="1" dirty="0"/>
              <a:t>Thought</a:t>
            </a:r>
            <a:r>
              <a:rPr lang="en-US" dirty="0" smtClean="0"/>
              <a:t>: The Upanishads describe reality as both manifest and </a:t>
            </a:r>
            <a:r>
              <a:rPr lang="en-US" dirty="0" err="1" smtClean="0"/>
              <a:t>unmanifest</a:t>
            </a:r>
            <a:r>
              <a:rPr lang="en-US" dirty="0" smtClean="0"/>
              <a:t>, similar to how quantum states exist in superposition until observed.</a:t>
            </a:r>
            <a:endParaRPr lang="en-US" dirty="0"/>
          </a:p>
        </p:txBody>
      </p:sp>
      <p:sp>
        <p:nvSpPr>
          <p:cNvPr id="5" name="Rectangle 4"/>
          <p:cNvSpPr/>
          <p:nvPr/>
        </p:nvSpPr>
        <p:spPr>
          <a:xfrm>
            <a:off x="198849" y="5157194"/>
            <a:ext cx="10888210" cy="1231106"/>
          </a:xfrm>
          <a:prstGeom prst="rect">
            <a:avLst/>
          </a:prstGeom>
        </p:spPr>
        <p:txBody>
          <a:bodyPr wrap="square">
            <a:spAutoFit/>
          </a:bodyPr>
          <a:lstStyle/>
          <a:p>
            <a:r>
              <a:rPr lang="en-IN" b="1" dirty="0"/>
              <a:t>. </a:t>
            </a:r>
            <a:r>
              <a:rPr lang="en-IN" b="1" dirty="0" smtClean="0"/>
              <a:t>3. </a:t>
            </a:r>
            <a:r>
              <a:rPr lang="en-IN" sz="2000" b="1" dirty="0"/>
              <a:t>Cosmology &amp; Creation</a:t>
            </a:r>
          </a:p>
          <a:p>
            <a:pPr marL="285750" lvl="0" indent="-285750">
              <a:buFont typeface="Arial" panose="020B0604020202020204" pitchFamily="34" charset="0"/>
              <a:buChar char="•"/>
            </a:pPr>
            <a:r>
              <a:rPr lang="en-IN" b="1" dirty="0"/>
              <a:t>Big Bang Theory</a:t>
            </a:r>
            <a:r>
              <a:rPr lang="en-IN" dirty="0"/>
              <a:t>: Modern physics explains the universe's origin as a singularity expanding into space-time.</a:t>
            </a:r>
          </a:p>
          <a:p>
            <a:pPr marL="285750" lvl="0" indent="-285750">
              <a:buFont typeface="Arial" panose="020B0604020202020204" pitchFamily="34" charset="0"/>
              <a:buChar char="•"/>
            </a:pPr>
            <a:r>
              <a:rPr lang="en-IN" b="1" dirty="0"/>
              <a:t>Vedic Cosmology</a:t>
            </a:r>
            <a:r>
              <a:rPr lang="en-IN" dirty="0"/>
              <a:t>: The </a:t>
            </a:r>
            <a:r>
              <a:rPr lang="en-IN" dirty="0" err="1"/>
              <a:t>Nasadiya</a:t>
            </a:r>
            <a:r>
              <a:rPr lang="en-IN" dirty="0"/>
              <a:t> </a:t>
            </a:r>
            <a:r>
              <a:rPr lang="en-IN" dirty="0" err="1"/>
              <a:t>Sukta</a:t>
            </a:r>
            <a:r>
              <a:rPr lang="en-IN" dirty="0"/>
              <a:t> in the Rigveda describes creation emerging from a void, aligning with the idea of an initial singularity.</a:t>
            </a:r>
          </a:p>
        </p:txBody>
      </p:sp>
      <p:sp>
        <p:nvSpPr>
          <p:cNvPr id="6" name="Rectangle 5"/>
          <p:cNvSpPr/>
          <p:nvPr/>
        </p:nvSpPr>
        <p:spPr>
          <a:xfrm>
            <a:off x="236043" y="116634"/>
            <a:ext cx="6672532" cy="584775"/>
          </a:xfrm>
          <a:prstGeom prst="rect">
            <a:avLst/>
          </a:prstGeom>
        </p:spPr>
        <p:txBody>
          <a:bodyPr wrap="none">
            <a:spAutoFit/>
          </a:bodyPr>
          <a:lstStyle/>
          <a:p>
            <a:r>
              <a:rPr lang="en-US" sz="3200" b="1" dirty="0" smtClean="0"/>
              <a:t>Modern physics and Vedic knowledge </a:t>
            </a:r>
            <a:endParaRPr lang="en-IN" sz="3200" b="1" dirty="0"/>
          </a:p>
        </p:txBody>
      </p:sp>
    </p:spTree>
    <p:extLst>
      <p:ext uri="{BB962C8B-B14F-4D97-AF65-F5344CB8AC3E}">
        <p14:creationId xmlns:p14="http://schemas.microsoft.com/office/powerpoint/2010/main" val="111674715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463" y="188640"/>
            <a:ext cx="10978944" cy="4616648"/>
          </a:xfrm>
          <a:prstGeom prst="rect">
            <a:avLst/>
          </a:prstGeom>
        </p:spPr>
        <p:txBody>
          <a:bodyPr wrap="square">
            <a:spAutoFit/>
          </a:bodyPr>
          <a:lstStyle/>
          <a:p>
            <a:r>
              <a:rPr lang="en-IN" b="1" dirty="0" smtClean="0"/>
              <a:t>4. </a:t>
            </a:r>
            <a:r>
              <a:rPr lang="en-IN" sz="2000" b="1" dirty="0"/>
              <a:t>Energy &amp; Vibrations</a:t>
            </a:r>
          </a:p>
          <a:p>
            <a:pPr marL="285750" lvl="0" indent="-285750">
              <a:buFont typeface="Arial" panose="020B0604020202020204" pitchFamily="34" charset="0"/>
              <a:buChar char="•"/>
            </a:pPr>
            <a:r>
              <a:rPr lang="en-IN" b="1" dirty="0"/>
              <a:t>String Theory</a:t>
            </a:r>
            <a:r>
              <a:rPr lang="en-IN" dirty="0"/>
              <a:t>: Suggests that fundamental particles are vibrating strings of energy.</a:t>
            </a:r>
          </a:p>
          <a:p>
            <a:pPr marL="285750" lvl="0" indent="-285750">
              <a:buFont typeface="Arial" panose="020B0604020202020204" pitchFamily="34" charset="0"/>
              <a:buChar char="•"/>
            </a:pPr>
            <a:r>
              <a:rPr lang="en-IN" b="1" dirty="0"/>
              <a:t>Vedic Mantras</a:t>
            </a:r>
            <a:r>
              <a:rPr lang="en-IN" dirty="0"/>
              <a:t>: Chanting mantras is believed to influence energy fields, resonating with the idea that vibrations shape reality</a:t>
            </a:r>
            <a:r>
              <a:rPr lang="en-IN" dirty="0" smtClean="0"/>
              <a:t>.</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endParaRPr lang="en-IN" dirty="0"/>
          </a:p>
          <a:p>
            <a:r>
              <a:rPr lang="en-IN" b="1" dirty="0"/>
              <a:t>5. </a:t>
            </a:r>
            <a:r>
              <a:rPr lang="en-IN" sz="2000" b="1" dirty="0"/>
              <a:t>Time &amp; Relativity</a:t>
            </a:r>
          </a:p>
          <a:p>
            <a:pPr marL="285750" lvl="0" indent="-285750">
              <a:buFont typeface="Arial" panose="020B0604020202020204" pitchFamily="34" charset="0"/>
              <a:buChar char="•"/>
            </a:pPr>
            <a:r>
              <a:rPr lang="en-IN" b="1" dirty="0"/>
              <a:t>Einstein’s Relativity</a:t>
            </a:r>
            <a:r>
              <a:rPr lang="en-IN" dirty="0"/>
              <a:t>: Time is relative and depends on the observer’s frame of reference.</a:t>
            </a:r>
          </a:p>
          <a:p>
            <a:pPr marL="285750" lvl="0" indent="-285750">
              <a:buFont typeface="Arial" panose="020B0604020202020204" pitchFamily="34" charset="0"/>
              <a:buChar char="•"/>
            </a:pPr>
            <a:r>
              <a:rPr lang="en-IN" b="1" dirty="0"/>
              <a:t>Vedic Time Cycles</a:t>
            </a:r>
            <a:r>
              <a:rPr lang="en-IN" dirty="0"/>
              <a:t>: The concept of Yugas (cosmic </a:t>
            </a:r>
            <a:r>
              <a:rPr lang="en-IN" dirty="0" smtClean="0"/>
              <a:t>ages</a:t>
            </a:r>
            <a:r>
              <a:rPr lang="en-IN" dirty="0"/>
              <a:t>) suggests time is cyclical rather than linear, mirroring relativity’s flexible nature</a:t>
            </a:r>
            <a:r>
              <a:rPr lang="en-IN" dirty="0" smtClean="0"/>
              <a:t>.</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endParaRPr lang="en-IN" dirty="0"/>
          </a:p>
          <a:p>
            <a:r>
              <a:rPr lang="en-IN" b="1" dirty="0"/>
              <a:t>6. </a:t>
            </a:r>
            <a:r>
              <a:rPr lang="en-IN" sz="2000" b="1" dirty="0"/>
              <a:t>Multiverse &amp; Vedic Realms</a:t>
            </a:r>
          </a:p>
          <a:p>
            <a:pPr marL="285750" lvl="0" indent="-285750">
              <a:buFont typeface="Arial" panose="020B0604020202020204" pitchFamily="34" charset="0"/>
              <a:buChar char="•"/>
            </a:pPr>
            <a:r>
              <a:rPr lang="en-IN" b="1" dirty="0"/>
              <a:t>Parallel Universes</a:t>
            </a:r>
            <a:r>
              <a:rPr lang="en-IN" dirty="0"/>
              <a:t>: Some interpretations of quantum mechanics suggest multiple realities exist simultaneously.</a:t>
            </a:r>
          </a:p>
          <a:p>
            <a:pPr marL="285750" indent="-285750">
              <a:buFont typeface="Arial" panose="020B0604020202020204" pitchFamily="34" charset="0"/>
              <a:buChar char="•"/>
            </a:pPr>
            <a:r>
              <a:rPr lang="en-IN" b="1" dirty="0"/>
              <a:t>Vedic Texts</a:t>
            </a:r>
            <a:r>
              <a:rPr lang="en-IN" dirty="0"/>
              <a:t>: Describe multiple </a:t>
            </a:r>
            <a:r>
              <a:rPr lang="en-IN" dirty="0" err="1"/>
              <a:t>Lokas</a:t>
            </a:r>
            <a:r>
              <a:rPr lang="en-IN" dirty="0"/>
              <a:t> (realms), each with distinct characteristics, resembling the idea of parallel dimensions</a:t>
            </a:r>
          </a:p>
        </p:txBody>
      </p:sp>
    </p:spTree>
    <p:extLst>
      <p:ext uri="{BB962C8B-B14F-4D97-AF65-F5344CB8AC3E}">
        <p14:creationId xmlns:p14="http://schemas.microsoft.com/office/powerpoint/2010/main" val="24944491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07667" y="1268760"/>
            <a:ext cx="9980859" cy="4647426"/>
          </a:xfrm>
          <a:prstGeom prst="rect">
            <a:avLst/>
          </a:prstGeom>
        </p:spPr>
        <p:txBody>
          <a:bodyPr wrap="square">
            <a:spAutoFit/>
          </a:bodyPr>
          <a:lstStyle/>
          <a:p>
            <a:r>
              <a:rPr lang="en-US" sz="2000" b="1" dirty="0" smtClean="0"/>
              <a:t>7. Quantum Mechanics &amp; Observer Effect</a:t>
            </a:r>
          </a:p>
          <a:p>
            <a:endParaRPr lang="en-US" sz="2000" b="1" dirty="0" smtClean="0"/>
          </a:p>
          <a:p>
            <a:r>
              <a:rPr lang="en-US" dirty="0" smtClean="0"/>
              <a:t>In quantum physics, particles exist in a superposition of states until observed.</a:t>
            </a:r>
          </a:p>
          <a:p>
            <a:r>
              <a:rPr lang="en-US" dirty="0" smtClean="0"/>
              <a:t>The famous double-slit experiment shows that electrons behave as waves when unobserved but collapse into particles when measured.</a:t>
            </a:r>
          </a:p>
          <a:p>
            <a:r>
              <a:rPr lang="en-US" dirty="0" smtClean="0"/>
              <a:t>This suggests that the act of observation influences reality at a fundamental level.</a:t>
            </a:r>
          </a:p>
          <a:p>
            <a:endParaRPr lang="en-US" dirty="0" smtClean="0"/>
          </a:p>
          <a:p>
            <a:endParaRPr lang="en-US" dirty="0" smtClean="0"/>
          </a:p>
          <a:p>
            <a:r>
              <a:rPr lang="en-US" sz="2000" b="1" dirty="0" smtClean="0"/>
              <a:t>8. Vedic </a:t>
            </a:r>
            <a:r>
              <a:rPr lang="en-US" sz="2000" b="1" dirty="0"/>
              <a:t>Philosophy &amp; </a:t>
            </a:r>
            <a:r>
              <a:rPr lang="en-US" sz="2000" b="1" dirty="0" smtClean="0"/>
              <a:t>Consciousness</a:t>
            </a:r>
          </a:p>
          <a:p>
            <a:endParaRPr lang="en-US" sz="2000" b="1" dirty="0"/>
          </a:p>
          <a:p>
            <a:r>
              <a:rPr lang="en-US" dirty="0" smtClean="0"/>
              <a:t>Ancient Vedic texts describe reality as Maya, an illusion shaped by perception.</a:t>
            </a:r>
          </a:p>
          <a:p>
            <a:r>
              <a:rPr lang="en-US" dirty="0" smtClean="0"/>
              <a:t>The Upanishads suggest that consciousness plays a role in shaping existence, aligning with modern quantum theories.</a:t>
            </a:r>
          </a:p>
          <a:p>
            <a:r>
              <a:rPr lang="en-US" dirty="0" smtClean="0"/>
              <a:t>This raises deep questions: Is reality objective, or does it shift based on observation? What do you think—does consciousness shape the universe?</a:t>
            </a:r>
            <a:br>
              <a:rPr lang="en-US" dirty="0" smtClean="0"/>
            </a:br>
            <a:r>
              <a:rPr lang="en-US" dirty="0" smtClean="0"/>
              <a:t>Let’s explore further!</a:t>
            </a:r>
            <a:endParaRPr lang="en-US" dirty="0"/>
          </a:p>
        </p:txBody>
      </p:sp>
    </p:spTree>
    <p:extLst>
      <p:ext uri="{BB962C8B-B14F-4D97-AF65-F5344CB8AC3E}">
        <p14:creationId xmlns:p14="http://schemas.microsoft.com/office/powerpoint/2010/main" val="12151601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6933" y="188640"/>
            <a:ext cx="10888210" cy="4801314"/>
          </a:xfrm>
          <a:prstGeom prst="rect">
            <a:avLst/>
          </a:prstGeom>
        </p:spPr>
        <p:txBody>
          <a:bodyPr wrap="square">
            <a:spAutoFit/>
          </a:bodyPr>
          <a:lstStyle/>
          <a:p>
            <a:r>
              <a:rPr lang="en-US" b="1" dirty="0" smtClean="0"/>
              <a:t>Nikola Tesla</a:t>
            </a:r>
            <a:r>
              <a:rPr lang="en-US" dirty="0" smtClean="0"/>
              <a:t> reportedly explored Vedic concepts, particularly the idea of </a:t>
            </a:r>
            <a:r>
              <a:rPr lang="en-US" dirty="0" err="1" smtClean="0"/>
              <a:t>Akasha</a:t>
            </a:r>
            <a:r>
              <a:rPr lang="en-US" dirty="0" smtClean="0"/>
              <a:t> (ether) and </a:t>
            </a:r>
            <a:r>
              <a:rPr lang="en-US" dirty="0" err="1" smtClean="0"/>
              <a:t>Prana</a:t>
            </a:r>
            <a:r>
              <a:rPr lang="en-US" dirty="0" smtClean="0"/>
              <a:t> (life force), which align with his theories on energy and resonance.</a:t>
            </a:r>
          </a:p>
          <a:p>
            <a:endParaRPr lang="en-US" dirty="0" smtClean="0"/>
          </a:p>
          <a:p>
            <a:r>
              <a:rPr lang="en-US" b="1" dirty="0" smtClean="0"/>
              <a:t>Erwin Schrödinger</a:t>
            </a:r>
            <a:r>
              <a:rPr lang="en-US" dirty="0" smtClean="0"/>
              <a:t>, a pioneer (</a:t>
            </a:r>
            <a:r>
              <a:rPr lang="hi-IN" dirty="0" smtClean="0"/>
              <a:t>प्रणेता</a:t>
            </a:r>
            <a:r>
              <a:rPr lang="en-US" dirty="0" smtClean="0"/>
              <a:t>)  of quantum mechanics, was influenced by </a:t>
            </a:r>
            <a:r>
              <a:rPr lang="en-US" dirty="0" err="1" smtClean="0"/>
              <a:t>Vedantic</a:t>
            </a:r>
            <a:r>
              <a:rPr lang="en-US" dirty="0" smtClean="0"/>
              <a:t> philosophy, particularly the concept of </a:t>
            </a:r>
            <a:r>
              <a:rPr lang="en-US" b="1" dirty="0" err="1" smtClean="0"/>
              <a:t>Advaita</a:t>
            </a:r>
            <a:r>
              <a:rPr lang="en-US" b="1" dirty="0" smtClean="0"/>
              <a:t> (non-duality)</a:t>
            </a:r>
            <a:r>
              <a:rPr lang="en-US" dirty="0" smtClean="0"/>
              <a:t>, which parallels quantum superposition.</a:t>
            </a:r>
          </a:p>
          <a:p>
            <a:endParaRPr lang="en-US" dirty="0" smtClean="0"/>
          </a:p>
          <a:p>
            <a:r>
              <a:rPr lang="en-US" b="1" dirty="0" smtClean="0"/>
              <a:t>Werner Heisenberg</a:t>
            </a:r>
            <a:r>
              <a:rPr lang="en-US" dirty="0" smtClean="0"/>
              <a:t>, known for the uncertainty principle, once remarked that Vedic thought helped him understand quantum mechanics better.</a:t>
            </a:r>
          </a:p>
          <a:p>
            <a:endParaRPr lang="en-US" dirty="0"/>
          </a:p>
          <a:p>
            <a:r>
              <a:rPr lang="en-US" b="1" dirty="0" smtClean="0"/>
              <a:t>J. Robert Oppenheimer</a:t>
            </a:r>
            <a:r>
              <a:rPr lang="en-US" dirty="0" smtClean="0"/>
              <a:t>, known as the "father of the atomic bomb," famously quoted the Bhagavad Gita after witnessing the first nuclear test: </a:t>
            </a:r>
            <a:r>
              <a:rPr lang="en-US" i="1" dirty="0" smtClean="0"/>
              <a:t>"Now I am become Death, the destroyer of worlds.“</a:t>
            </a:r>
          </a:p>
          <a:p>
            <a:endParaRPr lang="en-US" dirty="0" smtClean="0"/>
          </a:p>
          <a:p>
            <a:r>
              <a:rPr lang="en-US" b="1" dirty="0" smtClean="0"/>
              <a:t>David Bohm</a:t>
            </a:r>
            <a:r>
              <a:rPr lang="en-US" dirty="0" smtClean="0"/>
              <a:t>, a quantum physicist, suggested that the universe operates as a </a:t>
            </a:r>
            <a:r>
              <a:rPr lang="en-US" b="1" dirty="0" smtClean="0"/>
              <a:t>holographic whole</a:t>
            </a:r>
            <a:r>
              <a:rPr lang="en-US" dirty="0" smtClean="0"/>
              <a:t>, similar to the Vedic idea of interconnected consciousness.</a:t>
            </a:r>
          </a:p>
          <a:p>
            <a:endParaRPr lang="en-US" dirty="0" smtClean="0"/>
          </a:p>
          <a:p>
            <a:r>
              <a:rPr lang="en-US" b="1" dirty="0" err="1" smtClean="0"/>
              <a:t>Fritjof</a:t>
            </a:r>
            <a:r>
              <a:rPr lang="en-US" b="1" dirty="0" smtClean="0"/>
              <a:t> Capra</a:t>
            </a:r>
            <a:r>
              <a:rPr lang="en-US" dirty="0" smtClean="0"/>
              <a:t>, in his book </a:t>
            </a:r>
            <a:r>
              <a:rPr lang="en-US" i="1" dirty="0" smtClean="0"/>
              <a:t>The Tao of Physics</a:t>
            </a:r>
            <a:r>
              <a:rPr lang="en-US" dirty="0" smtClean="0"/>
              <a:t>, discusses how Vedic and Eastern philosophies align with quantum physics and relativity.</a:t>
            </a:r>
          </a:p>
        </p:txBody>
      </p:sp>
      <p:sp>
        <p:nvSpPr>
          <p:cNvPr id="5" name="Rectangle 4"/>
          <p:cNvSpPr/>
          <p:nvPr/>
        </p:nvSpPr>
        <p:spPr>
          <a:xfrm>
            <a:off x="316933" y="5253140"/>
            <a:ext cx="11069680" cy="646331"/>
          </a:xfrm>
          <a:prstGeom prst="rect">
            <a:avLst/>
          </a:prstGeom>
        </p:spPr>
        <p:txBody>
          <a:bodyPr wrap="square">
            <a:spAutoFit/>
          </a:bodyPr>
          <a:lstStyle/>
          <a:p>
            <a:r>
              <a:rPr lang="en-US" b="1" dirty="0" smtClean="0"/>
              <a:t>Carl Sagan</a:t>
            </a:r>
            <a:r>
              <a:rPr lang="en-US" dirty="0" smtClean="0"/>
              <a:t>, the famous astrophysicist, admired the </a:t>
            </a:r>
            <a:r>
              <a:rPr lang="en-US" b="1" dirty="0" smtClean="0"/>
              <a:t>cosmological cycles</a:t>
            </a:r>
            <a:r>
              <a:rPr lang="en-US" dirty="0" smtClean="0"/>
              <a:t> described in Hindu texts, comparing them to modern theories of an oscillating universe.</a:t>
            </a:r>
            <a:endParaRPr lang="en-US" dirty="0" smtClean="0"/>
          </a:p>
        </p:txBody>
      </p:sp>
    </p:spTree>
    <p:extLst>
      <p:ext uri="{BB962C8B-B14F-4D97-AF65-F5344CB8AC3E}">
        <p14:creationId xmlns:p14="http://schemas.microsoft.com/office/powerpoint/2010/main" val="39787000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6199" y="260649"/>
            <a:ext cx="11069680" cy="2862322"/>
          </a:xfrm>
          <a:prstGeom prst="rect">
            <a:avLst/>
          </a:prstGeom>
        </p:spPr>
        <p:txBody>
          <a:bodyPr wrap="square">
            <a:spAutoFit/>
          </a:bodyPr>
          <a:lstStyle/>
          <a:p>
            <a:pPr algn="just"/>
            <a:r>
              <a:rPr lang="en-US" sz="2000" b="1" dirty="0" smtClean="0"/>
              <a:t>Nikola Tesla met Swami Vivekananda in 1893</a:t>
            </a:r>
            <a:r>
              <a:rPr lang="en-US" sz="2000" dirty="0" smtClean="0"/>
              <a:t>, and this encounter reportedly influenced Tesla’s thinking on energy and matter. Vivekananda was keen on bridging </a:t>
            </a:r>
            <a:r>
              <a:rPr lang="en-US" sz="2000" b="1" dirty="0" err="1" smtClean="0"/>
              <a:t>Vedantic</a:t>
            </a:r>
            <a:r>
              <a:rPr lang="en-US" sz="2000" b="1" dirty="0" smtClean="0"/>
              <a:t> cosmology</a:t>
            </a:r>
            <a:r>
              <a:rPr lang="en-US" sz="2000" dirty="0" smtClean="0"/>
              <a:t> with modern science, and he believed Tesla’s work could mathematically demonstrate that </a:t>
            </a:r>
            <a:r>
              <a:rPr lang="en-US" sz="2000" b="1" dirty="0" smtClean="0"/>
              <a:t>force and matter are reducible to potential energy</a:t>
            </a:r>
            <a:r>
              <a:rPr lang="en-US" sz="2000" dirty="0" smtClean="0"/>
              <a:t>.</a:t>
            </a:r>
          </a:p>
          <a:p>
            <a:endParaRPr lang="en-US" sz="2000" dirty="0" smtClean="0"/>
          </a:p>
          <a:p>
            <a:r>
              <a:rPr lang="en-US" sz="2000" dirty="0" smtClean="0"/>
              <a:t>Tesla was fascinated by </a:t>
            </a:r>
            <a:r>
              <a:rPr lang="en-US" sz="2000" b="1" dirty="0" smtClean="0"/>
              <a:t>Vedic concepts</a:t>
            </a:r>
            <a:r>
              <a:rPr lang="en-US" sz="2000" dirty="0" smtClean="0"/>
              <a:t>, particularly </a:t>
            </a:r>
            <a:r>
              <a:rPr lang="en-US" sz="2000" b="1" dirty="0" err="1" smtClean="0"/>
              <a:t>Akasha</a:t>
            </a:r>
            <a:r>
              <a:rPr lang="en-US" sz="2000" b="1" dirty="0" smtClean="0"/>
              <a:t> (ether) and </a:t>
            </a:r>
            <a:r>
              <a:rPr lang="en-US" sz="2000" b="1" dirty="0" err="1" smtClean="0"/>
              <a:t>Prana</a:t>
            </a:r>
            <a:r>
              <a:rPr lang="en-US" sz="2000" b="1" dirty="0" smtClean="0"/>
              <a:t> (life force)</a:t>
            </a:r>
            <a:r>
              <a:rPr lang="en-US" sz="2000" dirty="0" smtClean="0"/>
              <a:t>, which align with his ideas on energy fields and wireless transmission. While Tesla didn’t fully integrate these ideas into his scientific work, his exposure to Vedic philosophy shaped his broader understanding of energy and the universe.</a:t>
            </a:r>
            <a:endParaRPr lang="en-US" sz="20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2371" y="3501010"/>
            <a:ext cx="7077336" cy="3145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356006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445" y="260648"/>
            <a:ext cx="5323185"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6174744" y="588266"/>
            <a:ext cx="5112567" cy="830997"/>
          </a:xfrm>
          <a:prstGeom prst="rect">
            <a:avLst/>
          </a:prstGeom>
        </p:spPr>
        <p:txBody>
          <a:bodyPr wrap="square">
            <a:spAutoFit/>
          </a:bodyPr>
          <a:lstStyle/>
          <a:p>
            <a:pPr algn="ctr"/>
            <a:r>
              <a:rPr lang="hi-IN" sz="2400" dirty="0" smtClean="0"/>
              <a:t>अनने जलभंगोस्ति प्राणोदानेषु वायुषु।</a:t>
            </a:r>
          </a:p>
          <a:p>
            <a:pPr algn="ctr"/>
            <a:r>
              <a:rPr lang="hi-IN" sz="2400" dirty="0" smtClean="0"/>
              <a:t>एवं शतानां कुंभानांसंयोगकार्यकृत्स्मृत:॥</a:t>
            </a:r>
          </a:p>
        </p:txBody>
      </p:sp>
      <p:sp>
        <p:nvSpPr>
          <p:cNvPr id="8" name="Rectangle 7"/>
          <p:cNvSpPr/>
          <p:nvPr/>
        </p:nvSpPr>
        <p:spPr>
          <a:xfrm>
            <a:off x="6232324" y="1684985"/>
            <a:ext cx="5040560" cy="923330"/>
          </a:xfrm>
          <a:prstGeom prst="rect">
            <a:avLst/>
          </a:prstGeom>
        </p:spPr>
        <p:txBody>
          <a:bodyPr wrap="square">
            <a:spAutoFit/>
          </a:bodyPr>
          <a:lstStyle/>
          <a:p>
            <a:pPr algn="ctr"/>
            <a:r>
              <a:rPr lang="en-IN" dirty="0" smtClean="0"/>
              <a:t>When the power of a hundred </a:t>
            </a:r>
            <a:r>
              <a:rPr lang="en-IN" dirty="0" err="1" smtClean="0"/>
              <a:t>Kumbhs</a:t>
            </a:r>
            <a:r>
              <a:rPr lang="en-IN" dirty="0" smtClean="0"/>
              <a:t> is used on water for electroplating, the water will change its form into oxygen and hydrogen.</a:t>
            </a:r>
            <a:endParaRPr lang="en-IN" dirty="0"/>
          </a:p>
        </p:txBody>
      </p:sp>
      <p:sp>
        <p:nvSpPr>
          <p:cNvPr id="4" name="Rectangle 3"/>
          <p:cNvSpPr/>
          <p:nvPr/>
        </p:nvSpPr>
        <p:spPr>
          <a:xfrm>
            <a:off x="5905053" y="2853868"/>
            <a:ext cx="5367831" cy="1569660"/>
          </a:xfrm>
          <a:prstGeom prst="rect">
            <a:avLst/>
          </a:prstGeom>
        </p:spPr>
        <p:txBody>
          <a:bodyPr wrap="square">
            <a:spAutoFit/>
          </a:bodyPr>
          <a:lstStyle/>
          <a:p>
            <a:pPr algn="ctr"/>
            <a:r>
              <a:rPr lang="hi-IN" sz="2400" dirty="0"/>
              <a:t>कृत्रिमस्वर्णरजतलेप: सत्कृतिरुच्यते।</a:t>
            </a:r>
            <a:r>
              <a:rPr lang="hi-IN" sz="2400" dirty="0" smtClean="0"/>
              <a:t/>
            </a:r>
            <a:br>
              <a:rPr lang="hi-IN" sz="2400" dirty="0" smtClean="0"/>
            </a:br>
            <a:r>
              <a:rPr lang="hi-IN" sz="2400" dirty="0"/>
              <a:t>यवक्षारमयोधानौ सुशक्तजलसन्निधो॥</a:t>
            </a:r>
            <a:r>
              <a:rPr lang="hi-IN" sz="2400" dirty="0" smtClean="0"/>
              <a:t/>
            </a:r>
            <a:br>
              <a:rPr lang="hi-IN" sz="2400" dirty="0" smtClean="0"/>
            </a:br>
            <a:r>
              <a:rPr lang="hi-IN" sz="2400" dirty="0"/>
              <a:t>आच्छादयति तत्ताम्रंस्वर्णेन रजतेन वा।</a:t>
            </a:r>
            <a:r>
              <a:rPr lang="hi-IN" sz="2400" dirty="0" smtClean="0"/>
              <a:t/>
            </a:r>
            <a:br>
              <a:rPr lang="hi-IN" sz="2400" dirty="0" smtClean="0"/>
            </a:br>
            <a:r>
              <a:rPr lang="hi-IN" sz="2400" dirty="0"/>
              <a:t>सुवर्णलिप्तं तत्ताम्रं शातकुंभमिति स्मृतम्‌॥</a:t>
            </a:r>
            <a:endParaRPr lang="en-IN" sz="2400" dirty="0"/>
          </a:p>
        </p:txBody>
      </p:sp>
      <p:sp>
        <p:nvSpPr>
          <p:cNvPr id="5" name="Rectangle 4"/>
          <p:cNvSpPr/>
          <p:nvPr/>
        </p:nvSpPr>
        <p:spPr>
          <a:xfrm>
            <a:off x="6049069" y="4653136"/>
            <a:ext cx="5223815" cy="1477328"/>
          </a:xfrm>
          <a:prstGeom prst="rect">
            <a:avLst/>
          </a:prstGeom>
        </p:spPr>
        <p:txBody>
          <a:bodyPr wrap="square">
            <a:spAutoFit/>
          </a:bodyPr>
          <a:lstStyle/>
          <a:p>
            <a:pPr algn="ctr"/>
            <a:r>
              <a:rPr lang="en-US" dirty="0"/>
              <a:t>Coating of metal like gold or silver is called </a:t>
            </a:r>
            <a:r>
              <a:rPr lang="en-US" dirty="0" err="1"/>
              <a:t>Satkriti</a:t>
            </a:r>
            <a:r>
              <a:rPr lang="en-US" dirty="0"/>
              <a:t>. As soon as strong water (acid solution) comes in contact with the iron vessel, the alkali (gold or silver nitrate) covers the copper with gold or silver. That copper coated with gold is called </a:t>
            </a:r>
            <a:r>
              <a:rPr lang="en-US" dirty="0" err="1"/>
              <a:t>Shatkumbh</a:t>
            </a:r>
            <a:r>
              <a:rPr lang="en-US" dirty="0"/>
              <a:t> or gold</a:t>
            </a:r>
            <a:endParaRPr lang="en-IN" dirty="0"/>
          </a:p>
        </p:txBody>
      </p:sp>
      <p:sp>
        <p:nvSpPr>
          <p:cNvPr id="7" name="Rectangle 6"/>
          <p:cNvSpPr/>
          <p:nvPr/>
        </p:nvSpPr>
        <p:spPr>
          <a:xfrm>
            <a:off x="1561021" y="6160272"/>
            <a:ext cx="3066032" cy="369332"/>
          </a:xfrm>
          <a:prstGeom prst="rect">
            <a:avLst/>
          </a:prstGeom>
        </p:spPr>
        <p:txBody>
          <a:bodyPr wrap="none">
            <a:spAutoFit/>
          </a:bodyPr>
          <a:lstStyle/>
          <a:p>
            <a:r>
              <a:rPr lang="en-US" dirty="0"/>
              <a:t>1.138 volts and 23 mA current </a:t>
            </a:r>
            <a:endParaRPr lang="en-IN" dirty="0"/>
          </a:p>
        </p:txBody>
      </p:sp>
    </p:spTree>
    <p:extLst>
      <p:ext uri="{BB962C8B-B14F-4D97-AF65-F5344CB8AC3E}">
        <p14:creationId xmlns:p14="http://schemas.microsoft.com/office/powerpoint/2010/main" val="9437972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399" y="1196752"/>
            <a:ext cx="9698149"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824373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36501" y="620688"/>
            <a:ext cx="5256584" cy="1754326"/>
          </a:xfrm>
          <a:prstGeom prst="rect">
            <a:avLst/>
          </a:prstGeom>
        </p:spPr>
        <p:txBody>
          <a:bodyPr wrap="square">
            <a:spAutoFit/>
          </a:bodyPr>
          <a:lstStyle/>
          <a:p>
            <a:r>
              <a:rPr lang="en-US" b="1" dirty="0" err="1"/>
              <a:t>Nicolau</a:t>
            </a:r>
            <a:r>
              <a:rPr lang="en-US" b="1" dirty="0"/>
              <a:t> Copernicus</a:t>
            </a:r>
            <a:r>
              <a:rPr lang="en-US" dirty="0"/>
              <a:t> was famous for showing that Earth revolves around the sun, changing scientific ideas. Copernicus wrote a book, published in 1543, explaining his solar system theory, called De </a:t>
            </a:r>
            <a:r>
              <a:rPr lang="en-US" dirty="0" err="1"/>
              <a:t>Revolutionibus</a:t>
            </a:r>
            <a:r>
              <a:rPr lang="en-US" dirty="0"/>
              <a:t> </a:t>
            </a:r>
            <a:r>
              <a:rPr lang="en-US" dirty="0" err="1"/>
              <a:t>Orbium</a:t>
            </a:r>
            <a:r>
              <a:rPr lang="en-US" dirty="0"/>
              <a:t> </a:t>
            </a:r>
            <a:r>
              <a:rPr lang="en-US" dirty="0" err="1"/>
              <a:t>Coelestium</a:t>
            </a:r>
            <a:r>
              <a:rPr lang="en-US" dirty="0"/>
              <a:t>. The Father of Modern Astronomy.</a:t>
            </a:r>
            <a:endParaRPr lang="en-IN"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1157" y="332656"/>
            <a:ext cx="2857500" cy="356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469" y="3645024"/>
            <a:ext cx="2304256" cy="2527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456781" y="4694872"/>
            <a:ext cx="5759450" cy="1477328"/>
          </a:xfrm>
          <a:prstGeom prst="rect">
            <a:avLst/>
          </a:prstGeom>
        </p:spPr>
        <p:txBody>
          <a:bodyPr>
            <a:spAutoFit/>
          </a:bodyPr>
          <a:lstStyle/>
          <a:p>
            <a:r>
              <a:rPr lang="en-US" b="1" dirty="0" smtClean="0"/>
              <a:t>Galileo Galilei. </a:t>
            </a:r>
            <a:r>
              <a:rPr lang="en-US" dirty="0" smtClean="0"/>
              <a:t>Galileo Galilei pioneered the experimental scientific method and was the first to use a refracting telescope to make important astronomical discoveries. He is often referred to as the “father of modern astronomy” and the “father of modern physics”.</a:t>
            </a:r>
            <a:endParaRPr lang="en-IN" dirty="0"/>
          </a:p>
        </p:txBody>
      </p:sp>
    </p:spTree>
    <p:extLst>
      <p:ext uri="{BB962C8B-B14F-4D97-AF65-F5344CB8AC3E}">
        <p14:creationId xmlns:p14="http://schemas.microsoft.com/office/powerpoint/2010/main" val="84852647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2445" y="404664"/>
            <a:ext cx="1803571" cy="369332"/>
          </a:xfrm>
          <a:prstGeom prst="rect">
            <a:avLst/>
          </a:prstGeom>
        </p:spPr>
        <p:txBody>
          <a:bodyPr wrap="none">
            <a:spAutoFit/>
          </a:bodyPr>
          <a:lstStyle/>
          <a:p>
            <a:r>
              <a:rPr lang="en-IN" dirty="0"/>
              <a:t> </a:t>
            </a:r>
            <a:r>
              <a:rPr lang="en-IN" b="1" i="1" dirty="0"/>
              <a:t>Surya </a:t>
            </a:r>
            <a:r>
              <a:rPr lang="en-IN" b="1" i="1" dirty="0" err="1"/>
              <a:t>Siddhanta</a:t>
            </a:r>
            <a:endParaRPr lang="en-IN" dirty="0"/>
          </a:p>
        </p:txBody>
      </p:sp>
      <p:sp>
        <p:nvSpPr>
          <p:cNvPr id="5" name="Rectangle 4"/>
          <p:cNvSpPr/>
          <p:nvPr/>
        </p:nvSpPr>
        <p:spPr>
          <a:xfrm>
            <a:off x="2754917" y="724824"/>
            <a:ext cx="5759450" cy="1200329"/>
          </a:xfrm>
          <a:prstGeom prst="rect">
            <a:avLst/>
          </a:prstGeom>
        </p:spPr>
        <p:txBody>
          <a:bodyPr>
            <a:spAutoFit/>
          </a:bodyPr>
          <a:lstStyle/>
          <a:p>
            <a:r>
              <a:rPr lang="en-US" dirty="0"/>
              <a:t>Even James Ussher (1581-1656), the famous and respected Archbishop of Ireland in the seventeenth century, is today greatly ridiculed for declaring that the world was created in 4004 BC.</a:t>
            </a:r>
            <a:endParaRPr lang="en-IN" dirty="0"/>
          </a:p>
        </p:txBody>
      </p:sp>
      <p:sp>
        <p:nvSpPr>
          <p:cNvPr id="6" name="Rectangle 5"/>
          <p:cNvSpPr/>
          <p:nvPr/>
        </p:nvSpPr>
        <p:spPr>
          <a:xfrm>
            <a:off x="648469" y="2132856"/>
            <a:ext cx="9937104" cy="2031325"/>
          </a:xfrm>
          <a:prstGeom prst="rect">
            <a:avLst/>
          </a:prstGeom>
        </p:spPr>
        <p:txBody>
          <a:bodyPr wrap="square">
            <a:spAutoFit/>
          </a:bodyPr>
          <a:lstStyle/>
          <a:p>
            <a:pPr fontAlgn="base"/>
            <a:r>
              <a:rPr lang="hi-IN" b="1" dirty="0"/>
              <a:t>परिकरण चतुरधिकं द्व्यांशे कृत्वोतेनाथाऽनेकांक्षामिष्ठाम्।</a:t>
            </a:r>
            <a:endParaRPr lang="hi-IN" dirty="0"/>
          </a:p>
          <a:p>
            <a:pPr fontAlgn="base"/>
            <a:r>
              <a:rPr lang="hi-IN" b="1" dirty="0"/>
              <a:t>​</a:t>
            </a:r>
            <a:endParaRPr lang="hi-IN" dirty="0"/>
          </a:p>
          <a:p>
            <a:pPr fontAlgn="base"/>
            <a:r>
              <a:rPr lang="hi-IN" b="1" dirty="0"/>
              <a:t>अर्थ</a:t>
            </a:r>
            <a:r>
              <a:rPr lang="hi-IN" dirty="0"/>
              <a:t> : विकर्णों का आयत (आयत), भुजाओं पर बने मिश्रण का योग होता है।</a:t>
            </a:r>
          </a:p>
          <a:p>
            <a:pPr fontAlgn="base"/>
            <a:r>
              <a:rPr lang="hi-IN" dirty="0"/>
              <a:t>इस श्लोक में, महर्षि बौधायन एक आयत (आयत) और उसके विकर्णों से संबंधित एक सिद्धांत सिद्धांत का परिचय देते हैं। सूत्र सुझाव देता है कि यदि हम एक आयत बनाते हैं और फिर उसके दो विकर्णों (विकर्ण) की लंबाई का उपयोग करके एक वर्ग तोड़ते हैं, तो इस वर्ग का मूल आयत के संगत पर बने टुकड़ों के योग के बराबर होगा।</a:t>
            </a:r>
          </a:p>
        </p:txBody>
      </p:sp>
      <p:sp>
        <p:nvSpPr>
          <p:cNvPr id="7" name="Rectangle 6"/>
          <p:cNvSpPr/>
          <p:nvPr/>
        </p:nvSpPr>
        <p:spPr>
          <a:xfrm>
            <a:off x="792485" y="4581128"/>
            <a:ext cx="5759450" cy="2031325"/>
          </a:xfrm>
          <a:prstGeom prst="rect">
            <a:avLst/>
          </a:prstGeom>
        </p:spPr>
        <p:txBody>
          <a:bodyPr>
            <a:spAutoFit/>
          </a:bodyPr>
          <a:lstStyle/>
          <a:p>
            <a:pPr fontAlgn="base"/>
            <a:r>
              <a:rPr lang="hi-IN" b="1" dirty="0"/>
              <a:t>दीर्घचतुरश्रस्याक्ष्णयारज्जुः पार्श्र्वमणि तिर्यग्विधानः।</a:t>
            </a:r>
            <a:endParaRPr lang="hi-IN" dirty="0"/>
          </a:p>
          <a:p>
            <a:pPr fontAlgn="base"/>
            <a:r>
              <a:rPr lang="hi-IN" b="1" dirty="0"/>
              <a:t>यावदायमन्त्रलोकस्तवद्वै योनो लोकः।</a:t>
            </a:r>
            <a:endParaRPr lang="hi-IN" dirty="0"/>
          </a:p>
          <a:p>
            <a:pPr fontAlgn="base"/>
            <a:r>
              <a:rPr lang="hi-IN" b="1" dirty="0"/>
              <a:t>​</a:t>
            </a:r>
            <a:endParaRPr lang="hi-IN" dirty="0"/>
          </a:p>
          <a:p>
            <a:pPr fontAlgn="base"/>
            <a:r>
              <a:rPr lang="hi-IN" b="1" dirty="0"/>
              <a:t>अर्थ</a:t>
            </a:r>
            <a:r>
              <a:rPr lang="hi-IN" dirty="0"/>
              <a:t> : एक आयत (आयत) के विकर्ण (विकर्ण) के अनुदिश खींची गई नाव, जो लंब (लंबवत) और तीर (क्षैतिज) भुजाओं से बनी है। इस विकर्ण का परिणाम लम्बा और आधार के योग के वर्ग के समान है।</a:t>
            </a:r>
          </a:p>
        </p:txBody>
      </p:sp>
    </p:spTree>
    <p:extLst>
      <p:ext uri="{BB962C8B-B14F-4D97-AF65-F5344CB8AC3E}">
        <p14:creationId xmlns:p14="http://schemas.microsoft.com/office/powerpoint/2010/main" val="347356925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2445" y="1196752"/>
            <a:ext cx="5759450" cy="5078313"/>
          </a:xfrm>
          <a:prstGeom prst="rect">
            <a:avLst/>
          </a:prstGeom>
        </p:spPr>
        <p:txBody>
          <a:bodyPr>
            <a:spAutoFit/>
          </a:bodyPr>
          <a:lstStyle/>
          <a:p>
            <a:r>
              <a:rPr lang="hi-IN" dirty="0" smtClean="0"/>
              <a:t>१) शुल्वसूत्र (ख्रिस्तपूर्व 1500)</a:t>
            </a:r>
          </a:p>
          <a:p>
            <a:endParaRPr lang="hi-IN" dirty="0" smtClean="0"/>
          </a:p>
          <a:p>
            <a:r>
              <a:rPr lang="hi-IN" dirty="0" smtClean="0"/>
              <a:t>बौधायन शुल्वसूत्र : </a:t>
            </a:r>
            <a:r>
              <a:rPr lang="el-GR" dirty="0" smtClean="0"/>
              <a:t>π = 3.088</a:t>
            </a:r>
          </a:p>
          <a:p>
            <a:endParaRPr lang="el-GR" dirty="0" smtClean="0"/>
          </a:p>
          <a:p>
            <a:r>
              <a:rPr lang="hi-IN" dirty="0" smtClean="0"/>
              <a:t>मानव शुल्वसूत्र :  </a:t>
            </a:r>
            <a:r>
              <a:rPr lang="el-GR" dirty="0" smtClean="0"/>
              <a:t>π = 3.16049 </a:t>
            </a:r>
            <a:r>
              <a:rPr lang="hi-IN" dirty="0" smtClean="0"/>
              <a:t>आणि 3.029</a:t>
            </a:r>
          </a:p>
          <a:p>
            <a:endParaRPr lang="hi-IN" dirty="0" smtClean="0"/>
          </a:p>
          <a:p>
            <a:r>
              <a:rPr lang="hi-IN" dirty="0" smtClean="0"/>
              <a:t>२) आर्यभट्ट 2 (ख्रिस्ताब्द 950) : </a:t>
            </a:r>
            <a:r>
              <a:rPr lang="el-GR" dirty="0" smtClean="0"/>
              <a:t>π = 3.1416 </a:t>
            </a:r>
            <a:r>
              <a:rPr lang="hi-IN" dirty="0" smtClean="0"/>
              <a:t>सुमारे</a:t>
            </a:r>
          </a:p>
          <a:p>
            <a:endParaRPr lang="hi-IN" dirty="0" smtClean="0"/>
          </a:p>
          <a:p>
            <a:r>
              <a:rPr lang="hi-IN" dirty="0" smtClean="0"/>
              <a:t>३) भास्कराचार्य (ख्रिस्ताब्द 1150) :  </a:t>
            </a:r>
            <a:r>
              <a:rPr lang="el-GR" dirty="0" smtClean="0"/>
              <a:t>π = 3.1416 </a:t>
            </a:r>
            <a:r>
              <a:rPr lang="hi-IN" dirty="0" smtClean="0"/>
              <a:t>आणि  22/7 स्थूल</a:t>
            </a:r>
          </a:p>
          <a:p>
            <a:endParaRPr lang="hi-IN" dirty="0" smtClean="0"/>
          </a:p>
          <a:p>
            <a:r>
              <a:rPr lang="hi-IN" dirty="0" smtClean="0"/>
              <a:t>४) शंकर वारियर (ख्रिस्ताब्द 1500 -1560) : </a:t>
            </a:r>
            <a:r>
              <a:rPr lang="el-GR" dirty="0" smtClean="0"/>
              <a:t>π =  3.14159265391…</a:t>
            </a:r>
            <a:r>
              <a:rPr lang="hi-IN" dirty="0" smtClean="0"/>
              <a:t>अचूक</a:t>
            </a:r>
          </a:p>
          <a:p>
            <a:endParaRPr lang="hi-IN" dirty="0" smtClean="0"/>
          </a:p>
          <a:p>
            <a:r>
              <a:rPr lang="hi-IN" dirty="0" smtClean="0"/>
              <a:t>५) माधव ख्रिस्ताब्द 1350 ते 1425) : </a:t>
            </a:r>
            <a:r>
              <a:rPr lang="el-GR" dirty="0" smtClean="0"/>
              <a:t>π = = 3.141592653592 </a:t>
            </a:r>
            <a:r>
              <a:rPr lang="hi-IN" dirty="0" smtClean="0"/>
              <a:t>अचूक</a:t>
            </a:r>
          </a:p>
          <a:p>
            <a:endParaRPr lang="hi-IN" dirty="0" smtClean="0"/>
          </a:p>
          <a:p>
            <a:r>
              <a:rPr lang="hi-IN" dirty="0" smtClean="0"/>
              <a:t>६) श्रीनिवास रामानुजन (ख्रिस्ताब्द 1887 -1920) :</a:t>
            </a:r>
            <a:endParaRPr lang="en-IN"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481" y="972457"/>
            <a:ext cx="5108575"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4005" y="2276872"/>
            <a:ext cx="3565525" cy="356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2885" y="232372"/>
            <a:ext cx="1080120"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81435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44"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5092" y="11906"/>
            <a:ext cx="5239747" cy="6846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984" y="277965"/>
            <a:ext cx="5010505" cy="5030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8"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418" y="260648"/>
            <a:ext cx="7056784" cy="5064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12" descr="The Singularity of the Bhagavad Gita"/>
          <p:cNvSpPr>
            <a:spLocks noChangeAspect="1" noChangeArrowheads="1"/>
          </p:cNvSpPr>
          <p:nvPr/>
        </p:nvSpPr>
        <p:spPr bwMode="auto">
          <a:xfrm>
            <a:off x="155575" y="-13652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2543"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75" y="5597326"/>
            <a:ext cx="5874914" cy="1052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6597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4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53357422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2685" y="692696"/>
            <a:ext cx="5715000" cy="209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421" y="3356992"/>
            <a:ext cx="3108325" cy="211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4893" y="3071152"/>
            <a:ext cx="6532226" cy="304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643000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437" y="233264"/>
            <a:ext cx="10657184" cy="6292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946305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4453" y="476672"/>
            <a:ext cx="9937104" cy="2585323"/>
          </a:xfrm>
          <a:prstGeom prst="rect">
            <a:avLst/>
          </a:prstGeom>
        </p:spPr>
        <p:txBody>
          <a:bodyPr wrap="square">
            <a:spAutoFit/>
          </a:bodyPr>
          <a:lstStyle/>
          <a:p>
            <a:r>
              <a:rPr lang="hi-IN" dirty="0"/>
              <a:t>कालगणनेसाठी आकाशातील २७ नक्षत्रांमध्ये प्रत्येक नक्षत्राचे ४ भाग केले आहेत. अशा प्रकारे एकूण २७ नक्षत्रांचे १०८ भाग होतात. त्यापैकी ९ भागांच्या एका आकृतीनुसार मेष, वृषभ, मिथुन, कर्क, सिंह, कन्या, तूळ, वृश्‍चिक, धनु, मकर, कुंभ आणि मीन अशा १२ राशींची नावे निश्‍चित करण्यात आली आहेत. आपल्या कालगणनेनुसार आपल्या मासांची नावे नक्षत्रांवरून ठेवण्यात आली आहेत, म्हणजेच नक्षत्रांच्या नावावरून चांद्रमास ओळखला जातो. चित्रा नक्षत्रावरून चैत्र, विशाखा नक्षत्रावरून वैशाख, ज्येष्ठा नक्षत्रावरून ज्येष्ठ, पूर्वाषाढा नक्षत्रावरून आषाढ, श्रवण नक्षत्रावरून श्रावण, पूर्वा भाद्रपदा नक्षत्रावरून भाद्रपद, अश्‍विनी नक्षत्रावरून अश्‍विन, कृतिका नक्षत्रावरून कार्तिक, मृग नक्षत्रावरून मार्गशीर्ष, पुष्य नक्षत्रावरून पौष, मघा नक्षत्रावरून माघ आणि उत्तरा फाल्गुनी नक्षत्रावरून फाल्गुन असे १२ मास आपल्या एका वर्षात येतात.</a:t>
            </a:r>
            <a:endParaRPr lang="en-IN" dirty="0"/>
          </a:p>
        </p:txBody>
      </p:sp>
    </p:spTree>
    <p:extLst>
      <p:ext uri="{BB962C8B-B14F-4D97-AF65-F5344CB8AC3E}">
        <p14:creationId xmlns:p14="http://schemas.microsoft.com/office/powerpoint/2010/main" val="249433299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453" y="136525"/>
            <a:ext cx="10297144" cy="658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835131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8429" y="188640"/>
            <a:ext cx="10801200" cy="6555641"/>
          </a:xfrm>
          <a:prstGeom prst="rect">
            <a:avLst/>
          </a:prstGeom>
        </p:spPr>
        <p:txBody>
          <a:bodyPr wrap="square">
            <a:spAutoFit/>
          </a:bodyPr>
          <a:lstStyle/>
          <a:p>
            <a:r>
              <a:rPr lang="en-US" sz="2000" b="1" dirty="0" smtClean="0"/>
              <a:t>1. Choosing Your Path Wisely</a:t>
            </a:r>
          </a:p>
          <a:p>
            <a:r>
              <a:rPr lang="en-US" sz="2000" dirty="0" smtClean="0"/>
              <a:t>Whether in career, relationships, or personal growth, following your </a:t>
            </a:r>
            <a:r>
              <a:rPr lang="en-US" sz="2000" dirty="0" err="1" smtClean="0"/>
              <a:t>Swadharma</a:t>
            </a:r>
            <a:r>
              <a:rPr lang="en-US" sz="2000" dirty="0" smtClean="0"/>
              <a:t> means embracing what truly resonates with you.</a:t>
            </a:r>
          </a:p>
          <a:p>
            <a:r>
              <a:rPr lang="en-US" sz="2000" dirty="0" smtClean="0"/>
              <a:t>Example: If you're naturally inclined toward creativity, a job in innovation or art may fulfill you more than a conventional path.</a:t>
            </a:r>
          </a:p>
          <a:p>
            <a:r>
              <a:rPr lang="en-US" sz="2000" b="1" dirty="0"/>
              <a:t>2. Avoiding External Pressures</a:t>
            </a:r>
          </a:p>
          <a:p>
            <a:r>
              <a:rPr lang="en-US" sz="2000" dirty="0" smtClean="0"/>
              <a:t>Society often pushes us toward prestige or financial success, but </a:t>
            </a:r>
            <a:r>
              <a:rPr lang="en-US" sz="2000" dirty="0" err="1" smtClean="0"/>
              <a:t>Swadharma</a:t>
            </a:r>
            <a:r>
              <a:rPr lang="en-US" sz="2000" dirty="0" smtClean="0"/>
              <a:t> encourages staying true to your calling, even if it’s unconventional.</a:t>
            </a:r>
          </a:p>
          <a:p>
            <a:r>
              <a:rPr lang="en-US" sz="2000" dirty="0" smtClean="0"/>
              <a:t>Example: If you love teaching but others suggest a corporate job, staying true to education aligns better with your inner purpose.</a:t>
            </a:r>
          </a:p>
          <a:p>
            <a:r>
              <a:rPr lang="en-US" sz="2000" b="1" dirty="0"/>
              <a:t>3. Responsibility &amp; Ethical Living</a:t>
            </a:r>
          </a:p>
          <a:p>
            <a:r>
              <a:rPr lang="en-US" sz="2000" dirty="0" smtClean="0"/>
              <a:t>Fulfilling your unique duty contributes to harmony in the world.</a:t>
            </a:r>
          </a:p>
          <a:p>
            <a:r>
              <a:rPr lang="en-US" sz="2000" dirty="0" smtClean="0"/>
              <a:t>Example: A leader must lead with integrity, a scientist must seek truth, and an artist must express freely.</a:t>
            </a:r>
          </a:p>
          <a:p>
            <a:r>
              <a:rPr lang="en-US" sz="2000" b="1" dirty="0"/>
              <a:t>4. Growth &amp; Self-Discovery</a:t>
            </a:r>
          </a:p>
          <a:p>
            <a:r>
              <a:rPr lang="en-US" sz="2000" dirty="0" err="1" smtClean="0"/>
              <a:t>Swadharma</a:t>
            </a:r>
            <a:r>
              <a:rPr lang="en-US" sz="2000" dirty="0" smtClean="0"/>
              <a:t> isn’t static—it evolves as we gain wisdom and experience.</a:t>
            </a:r>
          </a:p>
          <a:p>
            <a:r>
              <a:rPr lang="en-US" sz="2000" dirty="0" smtClean="0"/>
              <a:t>Example: A student’s </a:t>
            </a:r>
            <a:r>
              <a:rPr lang="en-US" sz="2000" dirty="0" err="1" smtClean="0"/>
              <a:t>Swadharma</a:t>
            </a:r>
            <a:r>
              <a:rPr lang="en-US" sz="2000" dirty="0" smtClean="0"/>
              <a:t> is to learn, but later, it may shift to mentorship or service.</a:t>
            </a:r>
          </a:p>
          <a:p>
            <a:r>
              <a:rPr lang="en-US" sz="2000" b="1" dirty="0"/>
              <a:t>5. Inner Peace &amp; Contentment</a:t>
            </a:r>
          </a:p>
          <a:p>
            <a:r>
              <a:rPr lang="en-US" sz="2000" dirty="0" smtClean="0"/>
              <a:t>When actions align with nature, mental clarity and happiness follow.</a:t>
            </a:r>
          </a:p>
          <a:p>
            <a:r>
              <a:rPr lang="en-US" sz="2000" dirty="0" smtClean="0"/>
              <a:t>Example: A doctor devoted to healing experiences fulfillment, whereas someone forced into medicine without passion may struggle.</a:t>
            </a:r>
            <a:endParaRPr lang="en-US" sz="2000" dirty="0"/>
          </a:p>
        </p:txBody>
      </p:sp>
    </p:spTree>
    <p:extLst>
      <p:ext uri="{BB962C8B-B14F-4D97-AF65-F5344CB8AC3E}">
        <p14:creationId xmlns:p14="http://schemas.microsoft.com/office/powerpoint/2010/main" val="370886610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14745" y="260648"/>
            <a:ext cx="7890907" cy="646331"/>
          </a:xfrm>
          <a:prstGeom prst="rect">
            <a:avLst/>
          </a:prstGeom>
        </p:spPr>
        <p:txBody>
          <a:bodyPr wrap="square">
            <a:spAutoFit/>
          </a:bodyPr>
          <a:lstStyle/>
          <a:p>
            <a:r>
              <a:rPr lang="en-US" dirty="0" smtClean="0"/>
              <a:t>In the realm of education, </a:t>
            </a:r>
            <a:r>
              <a:rPr lang="en-US" dirty="0" err="1" smtClean="0"/>
              <a:t>Swa</a:t>
            </a:r>
            <a:r>
              <a:rPr lang="en-US" dirty="0" smtClean="0"/>
              <a:t> emphasizes the importance of indigenous knowledge and learning systems that are rooted in Bharat’s rich cultural heritage.</a:t>
            </a:r>
            <a:endParaRPr lang="en-IN" dirty="0"/>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721" y="2174371"/>
            <a:ext cx="3100052" cy="1943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414745" y="1412776"/>
            <a:ext cx="7560840" cy="923330"/>
          </a:xfrm>
          <a:prstGeom prst="rect">
            <a:avLst/>
          </a:prstGeom>
        </p:spPr>
        <p:txBody>
          <a:bodyPr wrap="square">
            <a:spAutoFit/>
          </a:bodyPr>
          <a:lstStyle/>
          <a:p>
            <a:r>
              <a:rPr lang="en-US" dirty="0"/>
              <a:t>Philosophy of </a:t>
            </a:r>
            <a:r>
              <a:rPr lang="en-US" dirty="0" err="1"/>
              <a:t>Swa</a:t>
            </a:r>
            <a:r>
              <a:rPr lang="en-US" dirty="0"/>
              <a:t> in healthcare is reflected in the prominence on Ayurveda and other traditional healing practices. Ayurveda, an ancient Indian system of medicine, focuses on the balance between body, mind, and spirit.</a:t>
            </a:r>
            <a:endParaRPr lang="en-IN" dirty="0"/>
          </a:p>
        </p:txBody>
      </p:sp>
      <p:sp>
        <p:nvSpPr>
          <p:cNvPr id="7" name="Rectangle 6"/>
          <p:cNvSpPr/>
          <p:nvPr/>
        </p:nvSpPr>
        <p:spPr>
          <a:xfrm>
            <a:off x="3528788" y="2640537"/>
            <a:ext cx="7776863" cy="1200329"/>
          </a:xfrm>
          <a:prstGeom prst="rect">
            <a:avLst/>
          </a:prstGeom>
        </p:spPr>
        <p:txBody>
          <a:bodyPr wrap="square">
            <a:spAutoFit/>
          </a:bodyPr>
          <a:lstStyle/>
          <a:p>
            <a:r>
              <a:rPr lang="en-US" dirty="0"/>
              <a:t>Agriculture in Bharat also embodies the principle of </a:t>
            </a:r>
            <a:r>
              <a:rPr lang="en-US" dirty="0" err="1"/>
              <a:t>Swa</a:t>
            </a:r>
            <a:r>
              <a:rPr lang="en-US" dirty="0"/>
              <a:t>, particularly through sustainable farming practices. Traditional </a:t>
            </a:r>
            <a:r>
              <a:rPr lang="en-US" dirty="0" err="1"/>
              <a:t>Bharatiya</a:t>
            </a:r>
            <a:r>
              <a:rPr lang="en-US" dirty="0"/>
              <a:t> agriculture emphasized harmony with nature, using techniques like crop rotation, organic farming, and water conservation.</a:t>
            </a:r>
            <a:endParaRPr lang="en-IN" dirty="0"/>
          </a:p>
        </p:txBody>
      </p:sp>
    </p:spTree>
    <p:extLst>
      <p:ext uri="{BB962C8B-B14F-4D97-AF65-F5344CB8AC3E}">
        <p14:creationId xmlns:p14="http://schemas.microsoft.com/office/powerpoint/2010/main" val="301417355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p:cNvSpPr/>
          <p:nvPr/>
        </p:nvSpPr>
        <p:spPr>
          <a:xfrm>
            <a:off x="1769340" y="191386"/>
            <a:ext cx="6408712" cy="6408712"/>
          </a:xfrm>
          <a:prstGeom prst="ellipse">
            <a:avLst/>
          </a:prstGeom>
          <a:solidFill>
            <a:schemeClr val="tx2">
              <a:lumMod val="60000"/>
              <a:lumOff val="40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p:cNvSpPr/>
          <p:nvPr/>
        </p:nvSpPr>
        <p:spPr>
          <a:xfrm>
            <a:off x="2489419" y="994901"/>
            <a:ext cx="5040560" cy="4885117"/>
          </a:xfrm>
          <a:prstGeom prst="ellipse">
            <a:avLst/>
          </a:prstGeom>
          <a:solidFill>
            <a:srgbClr val="00B05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p:cNvSpPr/>
          <p:nvPr/>
        </p:nvSpPr>
        <p:spPr>
          <a:xfrm>
            <a:off x="3209499" y="1631546"/>
            <a:ext cx="3600400" cy="3529159"/>
          </a:xfrm>
          <a:prstGeom prst="ellipse">
            <a:avLst/>
          </a:prstGeom>
          <a:solidFill>
            <a:srgbClr val="FF0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a:t>
            </a:r>
            <a:endParaRPr lang="en-IN" dirty="0"/>
          </a:p>
        </p:txBody>
      </p:sp>
      <p:sp>
        <p:nvSpPr>
          <p:cNvPr id="18" name="Oval 17"/>
          <p:cNvSpPr/>
          <p:nvPr/>
        </p:nvSpPr>
        <p:spPr>
          <a:xfrm>
            <a:off x="4073595" y="2567650"/>
            <a:ext cx="1800200" cy="18002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22642" y="1847570"/>
            <a:ext cx="2016224" cy="584775"/>
          </a:xfrm>
          <a:prstGeom prst="rect">
            <a:avLst/>
          </a:prstGeom>
          <a:noFill/>
        </p:spPr>
        <p:txBody>
          <a:bodyPr wrap="square" lIns="91440" tIns="45720" rIns="91440" bIns="45720">
            <a:spAutoFit/>
          </a:bodyPr>
          <a:lstStyle/>
          <a:p>
            <a:pPr algn="ctr"/>
            <a:r>
              <a:rPr lang="hi-IN" sz="3200" b="1" cap="none" spc="0" dirty="0" smtClean="0">
                <a:ln w="12700">
                  <a:solidFill>
                    <a:schemeClr val="tx2">
                      <a:satMod val="155000"/>
                    </a:schemeClr>
                  </a:solidFill>
                  <a:prstDash val="solid"/>
                </a:ln>
                <a:blipFill>
                  <a:blip r:embed="rId2"/>
                  <a:tile tx="0" ty="0" sx="100000" sy="100000" flip="none" algn="tl"/>
                </a:blipFill>
                <a:effectLst>
                  <a:outerShdw blurRad="41275" dist="20320" dir="1800000" algn="tl" rotWithShape="0">
                    <a:srgbClr val="000000">
                      <a:alpha val="40000"/>
                    </a:srgbClr>
                  </a:outerShdw>
                </a:effectLst>
              </a:rPr>
              <a:t>कुटुंब</a:t>
            </a:r>
            <a:endParaRPr lang="en-IN" sz="3200" b="1" cap="none" spc="0" dirty="0">
              <a:ln w="12700">
                <a:solidFill>
                  <a:schemeClr val="tx2">
                    <a:satMod val="155000"/>
                  </a:schemeClr>
                </a:solidFill>
                <a:prstDash val="solid"/>
              </a:ln>
              <a:blipFill>
                <a:blip r:embed="rId2"/>
                <a:tile tx="0" ty="0" sx="100000" sy="100000" flip="none" algn="tl"/>
              </a:blipFill>
              <a:effectLst>
                <a:outerShdw blurRad="41275" dist="20320" dir="1800000" algn="tl" rotWithShape="0">
                  <a:srgbClr val="000000">
                    <a:alpha val="40000"/>
                  </a:srgbClr>
                </a:outerShdw>
              </a:effectLst>
            </a:endParaRPr>
          </a:p>
        </p:txBody>
      </p:sp>
      <p:sp>
        <p:nvSpPr>
          <p:cNvPr id="20" name="Rectangle 19"/>
          <p:cNvSpPr/>
          <p:nvPr/>
        </p:nvSpPr>
        <p:spPr>
          <a:xfrm>
            <a:off x="4220652" y="995668"/>
            <a:ext cx="1725151" cy="707886"/>
          </a:xfrm>
          <a:prstGeom prst="rect">
            <a:avLst/>
          </a:prstGeom>
          <a:noFill/>
        </p:spPr>
        <p:txBody>
          <a:bodyPr wrap="none" lIns="91440" tIns="45720" rIns="91440" bIns="45720">
            <a:spAutoFit/>
          </a:bodyPr>
          <a:lstStyle/>
          <a:p>
            <a:pPr algn="ctr"/>
            <a:r>
              <a:rPr lang="hi-IN" sz="4000" b="1" cap="none" spc="0" dirty="0" smtClean="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rPr>
              <a:t>समाज </a:t>
            </a:r>
            <a:endParaRPr lang="en-IN" sz="4000" b="1" cap="none" spc="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endParaRPr>
          </a:p>
        </p:txBody>
      </p:sp>
      <p:sp>
        <p:nvSpPr>
          <p:cNvPr id="21" name="Rectangle 20"/>
          <p:cNvSpPr/>
          <p:nvPr/>
        </p:nvSpPr>
        <p:spPr>
          <a:xfrm>
            <a:off x="4456946" y="407410"/>
            <a:ext cx="300082" cy="369332"/>
          </a:xfrm>
          <a:prstGeom prst="rect">
            <a:avLst/>
          </a:prstGeom>
        </p:spPr>
        <p:txBody>
          <a:bodyPr wrap="none">
            <a:spAutoFit/>
          </a:bodyPr>
          <a:lstStyle/>
          <a:p>
            <a:r>
              <a:rPr lang="hi-IN" dirty="0" smtClean="0"/>
              <a:t> </a:t>
            </a:r>
            <a:endParaRPr lang="en-IN" dirty="0"/>
          </a:p>
        </p:txBody>
      </p:sp>
      <p:sp>
        <p:nvSpPr>
          <p:cNvPr id="22" name="Rectangle 21"/>
          <p:cNvSpPr/>
          <p:nvPr/>
        </p:nvSpPr>
        <p:spPr>
          <a:xfrm>
            <a:off x="4347754" y="263394"/>
            <a:ext cx="1166001" cy="646331"/>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hi-IN"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देश </a:t>
            </a:r>
            <a:endParaRPr lang="en-IN"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7" name="Rectangle 36"/>
          <p:cNvSpPr/>
          <p:nvPr/>
        </p:nvSpPr>
        <p:spPr>
          <a:xfrm>
            <a:off x="4494222" y="3006085"/>
            <a:ext cx="997389" cy="923330"/>
          </a:xfrm>
          <a:prstGeom prst="rect">
            <a:avLst/>
          </a:prstGeom>
          <a:noFill/>
        </p:spPr>
        <p:txBody>
          <a:bodyPr wrap="none" lIns="91440" tIns="45720" rIns="91440" bIns="45720">
            <a:spAutoFit/>
          </a:bodyPr>
          <a:lstStyle/>
          <a:p>
            <a:pPr algn="ctr"/>
            <a:r>
              <a:rPr lang="hi-IN" sz="5400" b="1" cap="none" spc="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स्व</a:t>
            </a:r>
            <a:endParaRPr lang="en-US" sz="54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extLst>
      <p:ext uri="{BB962C8B-B14F-4D97-AF65-F5344CB8AC3E}">
        <p14:creationId xmlns:p14="http://schemas.microsoft.com/office/powerpoint/2010/main" val="130492530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737162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Oval 42"/>
          <p:cNvSpPr/>
          <p:nvPr/>
        </p:nvSpPr>
        <p:spPr>
          <a:xfrm>
            <a:off x="1769340" y="191386"/>
            <a:ext cx="6408712" cy="6408712"/>
          </a:xfrm>
          <a:prstGeom prst="ellipse">
            <a:avLst/>
          </a:prstGeom>
          <a:solidFill>
            <a:schemeClr val="tx2">
              <a:lumMod val="60000"/>
              <a:lumOff val="40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p:cNvSpPr/>
          <p:nvPr/>
        </p:nvSpPr>
        <p:spPr>
          <a:xfrm>
            <a:off x="2489419" y="994901"/>
            <a:ext cx="5040560" cy="4885117"/>
          </a:xfrm>
          <a:prstGeom prst="ellipse">
            <a:avLst/>
          </a:prstGeom>
          <a:solidFill>
            <a:srgbClr val="00B05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p:cNvSpPr/>
          <p:nvPr/>
        </p:nvSpPr>
        <p:spPr>
          <a:xfrm>
            <a:off x="3209499" y="1631546"/>
            <a:ext cx="3600400" cy="3529159"/>
          </a:xfrm>
          <a:prstGeom prst="ellipse">
            <a:avLst/>
          </a:prstGeom>
          <a:solidFill>
            <a:srgbClr val="FF0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a:t>
            </a:r>
            <a:endParaRPr lang="en-IN" dirty="0"/>
          </a:p>
        </p:txBody>
      </p:sp>
      <p:sp>
        <p:nvSpPr>
          <p:cNvPr id="46" name="Oval 45"/>
          <p:cNvSpPr/>
          <p:nvPr/>
        </p:nvSpPr>
        <p:spPr>
          <a:xfrm>
            <a:off x="4073595" y="2567650"/>
            <a:ext cx="1800200" cy="18002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Rectangle 46"/>
          <p:cNvSpPr/>
          <p:nvPr/>
        </p:nvSpPr>
        <p:spPr>
          <a:xfrm>
            <a:off x="3922642" y="1847570"/>
            <a:ext cx="2016224" cy="584775"/>
          </a:xfrm>
          <a:prstGeom prst="rect">
            <a:avLst/>
          </a:prstGeom>
          <a:noFill/>
        </p:spPr>
        <p:txBody>
          <a:bodyPr wrap="square" lIns="91440" tIns="45720" rIns="91440" bIns="45720">
            <a:spAutoFit/>
          </a:bodyPr>
          <a:lstStyle/>
          <a:p>
            <a:pPr algn="ctr"/>
            <a:r>
              <a:rPr lang="hi-IN" sz="3200" b="1" cap="none" spc="0" dirty="0" smtClean="0">
                <a:ln w="12700">
                  <a:solidFill>
                    <a:schemeClr val="tx2">
                      <a:satMod val="155000"/>
                    </a:schemeClr>
                  </a:solidFill>
                  <a:prstDash val="solid"/>
                </a:ln>
                <a:blipFill>
                  <a:blip r:embed="rId2"/>
                  <a:tile tx="0" ty="0" sx="100000" sy="100000" flip="none" algn="tl"/>
                </a:blipFill>
                <a:effectLst>
                  <a:outerShdw blurRad="41275" dist="20320" dir="1800000" algn="tl" rotWithShape="0">
                    <a:srgbClr val="000000">
                      <a:alpha val="40000"/>
                    </a:srgbClr>
                  </a:outerShdw>
                </a:effectLst>
              </a:rPr>
              <a:t>कुटुंब</a:t>
            </a:r>
            <a:endParaRPr lang="en-IN" sz="3200" b="1" cap="none" spc="0" dirty="0">
              <a:ln w="12700">
                <a:solidFill>
                  <a:schemeClr val="tx2">
                    <a:satMod val="155000"/>
                  </a:schemeClr>
                </a:solidFill>
                <a:prstDash val="solid"/>
              </a:ln>
              <a:blipFill>
                <a:blip r:embed="rId2"/>
                <a:tile tx="0" ty="0" sx="100000" sy="100000" flip="none" algn="tl"/>
              </a:blipFill>
              <a:effectLst>
                <a:outerShdw blurRad="41275" dist="20320" dir="1800000" algn="tl" rotWithShape="0">
                  <a:srgbClr val="000000">
                    <a:alpha val="40000"/>
                  </a:srgbClr>
                </a:outerShdw>
              </a:effectLst>
            </a:endParaRPr>
          </a:p>
        </p:txBody>
      </p:sp>
      <p:sp>
        <p:nvSpPr>
          <p:cNvPr id="48" name="Rectangle 47"/>
          <p:cNvSpPr/>
          <p:nvPr/>
        </p:nvSpPr>
        <p:spPr>
          <a:xfrm>
            <a:off x="4220652" y="995668"/>
            <a:ext cx="1725151" cy="707886"/>
          </a:xfrm>
          <a:prstGeom prst="rect">
            <a:avLst/>
          </a:prstGeom>
          <a:noFill/>
        </p:spPr>
        <p:txBody>
          <a:bodyPr wrap="none" lIns="91440" tIns="45720" rIns="91440" bIns="45720">
            <a:spAutoFit/>
          </a:bodyPr>
          <a:lstStyle/>
          <a:p>
            <a:pPr algn="ctr"/>
            <a:r>
              <a:rPr lang="hi-IN" sz="4000" b="1" cap="none" spc="0" dirty="0" smtClean="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rPr>
              <a:t>समाज </a:t>
            </a:r>
            <a:endParaRPr lang="en-IN" sz="4000" b="1" cap="none" spc="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endParaRPr>
          </a:p>
        </p:txBody>
      </p:sp>
      <p:sp>
        <p:nvSpPr>
          <p:cNvPr id="49" name="Rectangle 48"/>
          <p:cNvSpPr/>
          <p:nvPr/>
        </p:nvSpPr>
        <p:spPr>
          <a:xfrm>
            <a:off x="4456946" y="407410"/>
            <a:ext cx="300082" cy="369332"/>
          </a:xfrm>
          <a:prstGeom prst="rect">
            <a:avLst/>
          </a:prstGeom>
        </p:spPr>
        <p:txBody>
          <a:bodyPr wrap="none">
            <a:spAutoFit/>
          </a:bodyPr>
          <a:lstStyle/>
          <a:p>
            <a:r>
              <a:rPr lang="hi-IN" dirty="0" smtClean="0"/>
              <a:t> </a:t>
            </a:r>
            <a:endParaRPr lang="en-IN" dirty="0"/>
          </a:p>
        </p:txBody>
      </p:sp>
      <p:sp>
        <p:nvSpPr>
          <p:cNvPr id="50" name="Rectangle 49"/>
          <p:cNvSpPr/>
          <p:nvPr/>
        </p:nvSpPr>
        <p:spPr>
          <a:xfrm>
            <a:off x="4347754" y="263394"/>
            <a:ext cx="1166001" cy="646331"/>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hi-IN"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देश </a:t>
            </a:r>
            <a:endParaRPr lang="en-IN"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cxnSp>
        <p:nvCxnSpPr>
          <p:cNvPr id="51" name="Straight Arrow Connector 50"/>
          <p:cNvCxnSpPr/>
          <p:nvPr/>
        </p:nvCxnSpPr>
        <p:spPr>
          <a:xfrm flipH="1">
            <a:off x="5763093" y="2396341"/>
            <a:ext cx="4487614" cy="72008"/>
          </a:xfrm>
          <a:prstGeom prst="straightConnector1">
            <a:avLst/>
          </a:prstGeom>
          <a:ln w="98425">
            <a:solidFill>
              <a:schemeClr val="bg2">
                <a:lumMod val="75000"/>
              </a:schemeClr>
            </a:solidFill>
            <a:tailEnd type="arrow"/>
          </a:ln>
        </p:spPr>
        <p:style>
          <a:lnRef idx="1">
            <a:schemeClr val="accent1"/>
          </a:lnRef>
          <a:fillRef idx="0">
            <a:schemeClr val="accent1"/>
          </a:fillRef>
          <a:effectRef idx="0">
            <a:schemeClr val="accent1"/>
          </a:effectRef>
          <a:fontRef idx="minor">
            <a:schemeClr val="tx1"/>
          </a:fontRef>
        </p:style>
      </p:cxnSp>
      <p:pic>
        <p:nvPicPr>
          <p:cNvPr id="5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53525" y="3185212"/>
            <a:ext cx="4572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3" name="Straight Arrow Connector 52"/>
          <p:cNvCxnSpPr/>
          <p:nvPr/>
        </p:nvCxnSpPr>
        <p:spPr>
          <a:xfrm flipH="1">
            <a:off x="5690580" y="1357549"/>
            <a:ext cx="4487614" cy="72008"/>
          </a:xfrm>
          <a:prstGeom prst="straightConnector1">
            <a:avLst/>
          </a:prstGeom>
          <a:ln w="98425">
            <a:solidFill>
              <a:schemeClr val="bg2">
                <a:lumMod val="75000"/>
              </a:schemeClr>
            </a:solidFill>
            <a:tailEnd type="arrow"/>
          </a:ln>
        </p:spPr>
        <p:style>
          <a:lnRef idx="1">
            <a:schemeClr val="accent1"/>
          </a:lnRef>
          <a:fillRef idx="0">
            <a:schemeClr val="accent1"/>
          </a:fillRef>
          <a:effectRef idx="0">
            <a:schemeClr val="accent1"/>
          </a:effectRef>
          <a:fontRef idx="minor">
            <a:schemeClr val="tx1"/>
          </a:fontRef>
        </p:style>
      </p:cxnSp>
      <p:pic>
        <p:nvPicPr>
          <p:cNvPr id="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1966" y="2173362"/>
            <a:ext cx="4572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5" name="Straight Arrow Connector 54"/>
          <p:cNvCxnSpPr/>
          <p:nvPr/>
        </p:nvCxnSpPr>
        <p:spPr>
          <a:xfrm flipH="1">
            <a:off x="5351110" y="3395742"/>
            <a:ext cx="4883363" cy="37882"/>
          </a:xfrm>
          <a:prstGeom prst="straightConnector1">
            <a:avLst/>
          </a:prstGeom>
          <a:ln w="98425">
            <a:solidFill>
              <a:schemeClr val="bg2">
                <a:lumMod val="75000"/>
              </a:schemeClr>
            </a:solidFill>
            <a:tailEnd type="arrow"/>
          </a:ln>
        </p:spPr>
        <p:style>
          <a:lnRef idx="1">
            <a:schemeClr val="accent1"/>
          </a:lnRef>
          <a:fillRef idx="0">
            <a:schemeClr val="accent1"/>
          </a:fillRef>
          <a:effectRef idx="0">
            <a:schemeClr val="accent1"/>
          </a:effectRef>
          <a:fontRef idx="minor">
            <a:schemeClr val="tx1"/>
          </a:fontRef>
        </p:style>
      </p:cxnSp>
      <p:pic>
        <p:nvPicPr>
          <p:cNvPr id="5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13093" y="354784"/>
            <a:ext cx="4572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7" name="Straight Arrow Connector 56"/>
          <p:cNvCxnSpPr/>
          <p:nvPr/>
        </p:nvCxnSpPr>
        <p:spPr>
          <a:xfrm flipH="1">
            <a:off x="5644940" y="556072"/>
            <a:ext cx="4487614" cy="72008"/>
          </a:xfrm>
          <a:prstGeom prst="straightConnector1">
            <a:avLst/>
          </a:prstGeom>
          <a:ln w="98425">
            <a:solidFill>
              <a:schemeClr val="bg2">
                <a:lumMod val="75000"/>
              </a:schemeClr>
            </a:solidFill>
            <a:tailEnd type="arrow"/>
          </a:ln>
        </p:spPr>
        <p:style>
          <a:lnRef idx="1">
            <a:schemeClr val="accent1"/>
          </a:lnRef>
          <a:fillRef idx="0">
            <a:schemeClr val="accent1"/>
          </a:fillRef>
          <a:effectRef idx="0">
            <a:schemeClr val="accent1"/>
          </a:effectRef>
          <a:fontRef idx="minor">
            <a:schemeClr val="tx1"/>
          </a:fontRef>
        </p:style>
      </p:cxnSp>
      <p:pic>
        <p:nvPicPr>
          <p:cNvPr id="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21938" y="1147147"/>
            <a:ext cx="4572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9" name="Straight Arrow Connector 58"/>
          <p:cNvCxnSpPr/>
          <p:nvPr/>
        </p:nvCxnSpPr>
        <p:spPr>
          <a:xfrm flipH="1">
            <a:off x="5905053" y="4110640"/>
            <a:ext cx="4487614" cy="72008"/>
          </a:xfrm>
          <a:prstGeom prst="straightConnector1">
            <a:avLst/>
          </a:prstGeom>
          <a:ln w="98425">
            <a:solidFill>
              <a:schemeClr val="bg2">
                <a:lumMod val="75000"/>
              </a:schemeClr>
            </a:solidFill>
            <a:tailEnd type="arrow"/>
          </a:ln>
        </p:spPr>
        <p:style>
          <a:lnRef idx="1">
            <a:schemeClr val="accent1"/>
          </a:lnRef>
          <a:fillRef idx="0">
            <a:schemeClr val="accent1"/>
          </a:fillRef>
          <a:effectRef idx="0">
            <a:schemeClr val="accent1"/>
          </a:effectRef>
          <a:fontRef idx="minor">
            <a:schemeClr val="tx1"/>
          </a:fontRef>
        </p:style>
      </p:cxnSp>
      <p:pic>
        <p:nvPicPr>
          <p:cNvPr id="6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7430" y="3901554"/>
            <a:ext cx="4572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1" name="Straight Arrow Connector 60"/>
          <p:cNvCxnSpPr/>
          <p:nvPr/>
        </p:nvCxnSpPr>
        <p:spPr>
          <a:xfrm flipH="1">
            <a:off x="5945803" y="5160705"/>
            <a:ext cx="4487614" cy="72008"/>
          </a:xfrm>
          <a:prstGeom prst="straightConnector1">
            <a:avLst/>
          </a:prstGeom>
          <a:ln w="98425">
            <a:solidFill>
              <a:schemeClr val="bg2">
                <a:lumMod val="75000"/>
              </a:schemeClr>
            </a:solidFill>
            <a:tailEnd type="arrow"/>
          </a:ln>
        </p:spPr>
        <p:style>
          <a:lnRef idx="1">
            <a:schemeClr val="accent1"/>
          </a:lnRef>
          <a:fillRef idx="0">
            <a:schemeClr val="accent1"/>
          </a:fillRef>
          <a:effectRef idx="0">
            <a:schemeClr val="accent1"/>
          </a:effectRef>
          <a:fontRef idx="minor">
            <a:schemeClr val="tx1"/>
          </a:fontRef>
        </p:style>
      </p:cxnSp>
      <p:pic>
        <p:nvPicPr>
          <p:cNvPr id="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7161" y="4950303"/>
            <a:ext cx="4572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4130" y="5889844"/>
            <a:ext cx="4572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4" name="Straight Arrow Connector 63"/>
          <p:cNvCxnSpPr/>
          <p:nvPr/>
        </p:nvCxnSpPr>
        <p:spPr>
          <a:xfrm flipH="1">
            <a:off x="5934245" y="6085615"/>
            <a:ext cx="4487614" cy="72008"/>
          </a:xfrm>
          <a:prstGeom prst="straightConnector1">
            <a:avLst/>
          </a:prstGeom>
          <a:ln w="98425">
            <a:solidFill>
              <a:schemeClr val="bg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a:off x="4494222" y="3006085"/>
            <a:ext cx="997389" cy="923330"/>
          </a:xfrm>
          <a:prstGeom prst="rect">
            <a:avLst/>
          </a:prstGeom>
          <a:noFill/>
        </p:spPr>
        <p:txBody>
          <a:bodyPr wrap="none" lIns="91440" tIns="45720" rIns="91440" bIns="45720">
            <a:spAutoFit/>
          </a:bodyPr>
          <a:lstStyle/>
          <a:p>
            <a:pPr algn="ctr"/>
            <a:r>
              <a:rPr lang="hi-IN" sz="5400" b="1" cap="none" spc="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स्व</a:t>
            </a:r>
            <a:endParaRPr lang="en-US" sz="54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extLst>
      <p:ext uri="{BB962C8B-B14F-4D97-AF65-F5344CB8AC3E}">
        <p14:creationId xmlns:p14="http://schemas.microsoft.com/office/powerpoint/2010/main" val="135553689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p:cNvSpPr/>
          <p:nvPr/>
        </p:nvSpPr>
        <p:spPr>
          <a:xfrm>
            <a:off x="2088630" y="116632"/>
            <a:ext cx="6408712" cy="6408712"/>
          </a:xfrm>
          <a:prstGeom prst="ellipse">
            <a:avLst/>
          </a:prstGeom>
          <a:solidFill>
            <a:schemeClr val="tx2">
              <a:lumMod val="60000"/>
              <a:lumOff val="40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p:cNvSpPr/>
          <p:nvPr/>
        </p:nvSpPr>
        <p:spPr>
          <a:xfrm>
            <a:off x="2808709" y="920147"/>
            <a:ext cx="5040560" cy="4885117"/>
          </a:xfrm>
          <a:prstGeom prst="ellipse">
            <a:avLst/>
          </a:prstGeom>
          <a:solidFill>
            <a:srgbClr val="00B05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p:cNvSpPr/>
          <p:nvPr/>
        </p:nvSpPr>
        <p:spPr>
          <a:xfrm>
            <a:off x="3528789" y="1556792"/>
            <a:ext cx="3600400" cy="3529159"/>
          </a:xfrm>
          <a:prstGeom prst="ellipse">
            <a:avLst/>
          </a:prstGeom>
          <a:solidFill>
            <a:srgbClr val="FF0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p:cNvSpPr/>
          <p:nvPr/>
        </p:nvSpPr>
        <p:spPr>
          <a:xfrm>
            <a:off x="4392885" y="2492896"/>
            <a:ext cx="1800200" cy="18002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82182" y="3063086"/>
            <a:ext cx="1050863" cy="659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ectangle 14"/>
          <p:cNvSpPr/>
          <p:nvPr/>
        </p:nvSpPr>
        <p:spPr>
          <a:xfrm>
            <a:off x="4241932" y="1772816"/>
            <a:ext cx="2016224" cy="584775"/>
          </a:xfrm>
          <a:prstGeom prst="rect">
            <a:avLst/>
          </a:prstGeom>
          <a:noFill/>
        </p:spPr>
        <p:txBody>
          <a:bodyPr wrap="square" lIns="91440" tIns="45720" rIns="91440" bIns="45720">
            <a:spAutoFit/>
          </a:bodyPr>
          <a:lstStyle/>
          <a:p>
            <a:pPr algn="ctr"/>
            <a:r>
              <a:rPr lang="hi-IN" sz="3200" b="1" cap="none" spc="0" dirty="0" smtClean="0">
                <a:ln w="12700">
                  <a:solidFill>
                    <a:schemeClr val="tx2">
                      <a:satMod val="155000"/>
                    </a:schemeClr>
                  </a:solidFill>
                  <a:prstDash val="solid"/>
                </a:ln>
                <a:blipFill>
                  <a:blip r:embed="rId3"/>
                  <a:tile tx="0" ty="0" sx="100000" sy="100000" flip="none" algn="tl"/>
                </a:blipFill>
                <a:effectLst>
                  <a:outerShdw blurRad="41275" dist="20320" dir="1800000" algn="tl" rotWithShape="0">
                    <a:srgbClr val="000000">
                      <a:alpha val="40000"/>
                    </a:srgbClr>
                  </a:outerShdw>
                </a:effectLst>
              </a:rPr>
              <a:t>कुटुंब</a:t>
            </a:r>
            <a:endParaRPr lang="en-IN" sz="3200" b="1" cap="none" spc="0" dirty="0">
              <a:ln w="12700">
                <a:solidFill>
                  <a:schemeClr val="tx2">
                    <a:satMod val="155000"/>
                  </a:schemeClr>
                </a:solidFill>
                <a:prstDash val="solid"/>
              </a:ln>
              <a:blipFill>
                <a:blip r:embed="rId3"/>
                <a:tile tx="0" ty="0" sx="100000" sy="100000" flip="none" algn="tl"/>
              </a:blipFill>
              <a:effectLst>
                <a:outerShdw blurRad="41275" dist="20320" dir="1800000" algn="tl" rotWithShape="0">
                  <a:srgbClr val="000000">
                    <a:alpha val="40000"/>
                  </a:srgbClr>
                </a:outerShdw>
              </a:effectLst>
            </a:endParaRPr>
          </a:p>
        </p:txBody>
      </p:sp>
      <p:sp>
        <p:nvSpPr>
          <p:cNvPr id="18" name="Rectangle 17"/>
          <p:cNvSpPr/>
          <p:nvPr/>
        </p:nvSpPr>
        <p:spPr>
          <a:xfrm>
            <a:off x="4539942" y="920914"/>
            <a:ext cx="1725151" cy="707886"/>
          </a:xfrm>
          <a:prstGeom prst="rect">
            <a:avLst/>
          </a:prstGeom>
          <a:noFill/>
        </p:spPr>
        <p:txBody>
          <a:bodyPr wrap="none" lIns="91440" tIns="45720" rIns="91440" bIns="45720">
            <a:spAutoFit/>
          </a:bodyPr>
          <a:lstStyle/>
          <a:p>
            <a:pPr algn="ctr"/>
            <a:r>
              <a:rPr lang="hi-IN" sz="4000" b="1" cap="none" spc="0" dirty="0" smtClean="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rPr>
              <a:t>समाज </a:t>
            </a:r>
            <a:endParaRPr lang="en-IN" sz="4000" b="1" cap="none" spc="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endParaRPr>
          </a:p>
        </p:txBody>
      </p:sp>
      <p:sp>
        <p:nvSpPr>
          <p:cNvPr id="19" name="Rectangle 18"/>
          <p:cNvSpPr/>
          <p:nvPr/>
        </p:nvSpPr>
        <p:spPr>
          <a:xfrm>
            <a:off x="4776236" y="332656"/>
            <a:ext cx="300082" cy="369332"/>
          </a:xfrm>
          <a:prstGeom prst="rect">
            <a:avLst/>
          </a:prstGeom>
        </p:spPr>
        <p:txBody>
          <a:bodyPr wrap="none">
            <a:spAutoFit/>
          </a:bodyPr>
          <a:lstStyle/>
          <a:p>
            <a:r>
              <a:rPr lang="hi-IN" dirty="0" smtClean="0"/>
              <a:t> </a:t>
            </a:r>
            <a:endParaRPr lang="en-IN" dirty="0"/>
          </a:p>
        </p:txBody>
      </p:sp>
      <p:sp>
        <p:nvSpPr>
          <p:cNvPr id="20" name="Rectangle 19"/>
          <p:cNvSpPr/>
          <p:nvPr/>
        </p:nvSpPr>
        <p:spPr>
          <a:xfrm>
            <a:off x="4667044" y="188640"/>
            <a:ext cx="1166001" cy="646331"/>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hi-IN"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देश </a:t>
            </a:r>
            <a:endParaRPr lang="en-IN"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cxnSp>
        <p:nvCxnSpPr>
          <p:cNvPr id="28" name="Straight Arrow Connector 27"/>
          <p:cNvCxnSpPr/>
          <p:nvPr/>
        </p:nvCxnSpPr>
        <p:spPr>
          <a:xfrm flipH="1">
            <a:off x="9894973" y="2706311"/>
            <a:ext cx="2662776" cy="2691008"/>
          </a:xfrm>
          <a:prstGeom prst="straightConnector1">
            <a:avLst/>
          </a:prstGeom>
          <a:ln w="98425">
            <a:solidFill>
              <a:schemeClr val="bg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9894973" y="4877162"/>
            <a:ext cx="2441335" cy="1790908"/>
          </a:xfrm>
          <a:prstGeom prst="straightConnector1">
            <a:avLst/>
          </a:prstGeom>
          <a:ln w="98425">
            <a:solidFill>
              <a:schemeClr val="bg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265" name="Straight Arrow Connector 11264"/>
          <p:cNvCxnSpPr/>
          <p:nvPr/>
        </p:nvCxnSpPr>
        <p:spPr>
          <a:xfrm flipV="1">
            <a:off x="9698017" y="4617514"/>
            <a:ext cx="1800200" cy="1008112"/>
          </a:xfrm>
          <a:prstGeom prst="straightConnector1">
            <a:avLst/>
          </a:prstGeom>
          <a:ln w="98425">
            <a:solidFill>
              <a:schemeClr val="bg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271" name="Straight Arrow Connector 11270"/>
          <p:cNvCxnSpPr/>
          <p:nvPr/>
        </p:nvCxnSpPr>
        <p:spPr>
          <a:xfrm flipH="1" flipV="1">
            <a:off x="9365556" y="4965271"/>
            <a:ext cx="2016224" cy="864096"/>
          </a:xfrm>
          <a:prstGeom prst="straightConnector1">
            <a:avLst/>
          </a:prstGeom>
          <a:ln w="98425">
            <a:solidFill>
              <a:schemeClr val="bg2">
                <a:lumMod val="75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10204588" y="1628800"/>
            <a:ext cx="216024" cy="190183"/>
            <a:chOff x="8065293" y="511805"/>
            <a:chExt cx="216024" cy="190183"/>
          </a:xfrm>
        </p:grpSpPr>
        <p:cxnSp>
          <p:nvCxnSpPr>
            <p:cNvPr id="11274" name="Straight Connector 11273"/>
            <p:cNvCxnSpPr/>
            <p:nvPr/>
          </p:nvCxnSpPr>
          <p:spPr>
            <a:xfrm>
              <a:off x="8065293" y="511805"/>
              <a:ext cx="0" cy="190183"/>
            </a:xfrm>
            <a:prstGeom prst="line">
              <a:avLst/>
            </a:prstGeom>
            <a:ln w="920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76" name="Straight Connector 11275"/>
            <p:cNvCxnSpPr/>
            <p:nvPr/>
          </p:nvCxnSpPr>
          <p:spPr>
            <a:xfrm>
              <a:off x="8065293" y="701988"/>
              <a:ext cx="216024" cy="0"/>
            </a:xfrm>
            <a:prstGeom prst="line">
              <a:avLst/>
            </a:prstGeom>
            <a:ln w="920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2048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667562">
            <a:off x="9448547" y="5667748"/>
            <a:ext cx="350206" cy="318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8086180">
            <a:off x="480472" y="5540250"/>
            <a:ext cx="4572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5537764">
            <a:off x="-19501" y="4330505"/>
            <a:ext cx="303590" cy="275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032056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hi-IN" dirty="0" smtClean="0"/>
              <a:t>हिंदू धर्म : </a:t>
            </a:r>
          </a:p>
          <a:p>
            <a:r>
              <a:rPr lang="hi-IN" dirty="0" smtClean="0"/>
              <a:t>१. प्रश्न विचारण्याची मुभा</a:t>
            </a:r>
          </a:p>
          <a:p>
            <a:r>
              <a:rPr lang="hi-IN" dirty="0" smtClean="0"/>
              <a:t>२. उत्तर मानण्याचा आग्रह नाही.</a:t>
            </a:r>
          </a:p>
          <a:p>
            <a:r>
              <a:rPr lang="hi-IN" dirty="0" smtClean="0"/>
              <a:t>३. यथा इच्छसी तथा कुरु </a:t>
            </a:r>
          </a:p>
          <a:p>
            <a:r>
              <a:rPr lang="hi-IN" dirty="0" smtClean="0"/>
              <a:t>४. आस्तिक असू शकता किंवा नास्तिक </a:t>
            </a:r>
          </a:p>
          <a:p>
            <a:r>
              <a:rPr lang="hi-IN" dirty="0" smtClean="0"/>
              <a:t>५. प्रत्येकाचा देव वेगळा असू शकतो. </a:t>
            </a:r>
          </a:p>
          <a:p>
            <a:r>
              <a:rPr lang="hi-IN" dirty="0" smtClean="0"/>
              <a:t>६. हा समूहाचा धर्म नाही. </a:t>
            </a:r>
          </a:p>
          <a:p>
            <a:r>
              <a:rPr lang="hi-IN" dirty="0" smtClean="0"/>
              <a:t>७. धर्म हा वैयक्तिक बाब आहे. </a:t>
            </a:r>
          </a:p>
          <a:p>
            <a:r>
              <a:rPr lang="hi-IN" dirty="0" smtClean="0"/>
              <a:t>८. विश्वबंधुता नैसर्गिक आहे </a:t>
            </a:r>
          </a:p>
          <a:p>
            <a:r>
              <a:rPr lang="hi-IN" dirty="0" smtClean="0"/>
              <a:t>९ . कर्मकांड वेगळे </a:t>
            </a:r>
          </a:p>
          <a:p>
            <a:r>
              <a:rPr lang="hi-IN" dirty="0" smtClean="0"/>
              <a:t>१० जन्माने हिंदू </a:t>
            </a:r>
          </a:p>
          <a:p>
            <a:r>
              <a:rPr lang="hi-IN" dirty="0" smtClean="0"/>
              <a:t>११ जीवन पद्धती </a:t>
            </a:r>
          </a:p>
          <a:p>
            <a:r>
              <a:rPr lang="hi-IN" dirty="0" smtClean="0"/>
              <a:t>१२. एकम सत विप्रा बहुदा वदन्ति </a:t>
            </a:r>
          </a:p>
          <a:p>
            <a:r>
              <a:rPr lang="hi-IN" dirty="0" smtClean="0"/>
              <a:t>१३ कर्म सिद्धांताला मानतो </a:t>
            </a:r>
            <a:endParaRPr lang="en-IN" dirty="0"/>
          </a:p>
        </p:txBody>
      </p:sp>
    </p:spTree>
    <p:extLst>
      <p:ext uri="{BB962C8B-B14F-4D97-AF65-F5344CB8AC3E}">
        <p14:creationId xmlns:p14="http://schemas.microsoft.com/office/powerpoint/2010/main" val="188798455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11559</TotalTime>
  <Words>3532</Words>
  <Application>Microsoft Office PowerPoint</Application>
  <PresentationFormat>Custom</PresentationFormat>
  <Paragraphs>326</Paragraphs>
  <Slides>43</Slides>
  <Notes>1</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Samsan</dc:creator>
  <cp:lastModifiedBy>Samsan</cp:lastModifiedBy>
  <cp:revision>67</cp:revision>
  <dcterms:created xsi:type="dcterms:W3CDTF">2025-05-17T15:44:24Z</dcterms:created>
  <dcterms:modified xsi:type="dcterms:W3CDTF">2025-05-25T16:23:59Z</dcterms:modified>
</cp:coreProperties>
</file>